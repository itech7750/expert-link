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Montserrat SemiBold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  <p:embeddedFont>
      <p:font typeface="REM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A260F5-13E0-4719-BC00-99B9BBDD7B3E}">
  <a:tblStyle styleId="{68A260F5-13E0-4719-BC00-99B9BBDD7B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EFE8326-C45B-4907-851C-95F5317716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3F87A92-493A-4783-8B99-F0A5A8C2B8D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SemiBold-bold.fntdata"/><Relationship Id="rId43" Type="http://schemas.openxmlformats.org/officeDocument/2006/relationships/font" Target="fonts/MontserratSemiBold-regular.fntdata"/><Relationship Id="rId46" Type="http://schemas.openxmlformats.org/officeDocument/2006/relationships/font" Target="fonts/MontserratSemiBold-boldItalic.fntdata"/><Relationship Id="rId45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EM-regular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REM-italic.fntdata"/><Relationship Id="rId52" Type="http://schemas.openxmlformats.org/officeDocument/2006/relationships/font" Target="fonts/RE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RE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Today, we are focusing on developments in the fields of communications, information technologies, and information security.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areas are crucial for ensuring the integrity and safety of our digital environments.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explore the latest advancements and their implications for our industry.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 these developments will help us stay ahead in a rapidly evolving technological landscape.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df37cac0_0_288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95df37cac0_0_28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95df37cac0_0_28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5df37cac0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95df37cac0_0_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5df37cac0_0_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5df37cac0_0_12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95df37cac0_0_12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95df37cac0_0_12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de2febb53_0_11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cde2febb53_0_11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cde2febb53_0_11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dda02ee09_0_2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cdda02ee09_0_2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cdda02ee09_0_2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5df37cac0_0_38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95df37cac0_0_3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95df37cac0_0_3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5df37cac0_0_54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g395df37cac0_0_5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95df37cac0_0_5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5df37cac0_0_7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95df37cac0_0_7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95df37cac0_0_7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5df37cac0_0_83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95df37cac0_0_8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95df37cac0_0_8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5df37cac0_0_10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95df37cac0_0_10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95df37cac0_0_10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5df37cac0_0_11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95df37cac0_0_11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95df37cac0_0_11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5df37cac0_0_14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95df37cac0_0_14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95df37cac0_0_14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de2febb53_0_1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cde2febb53_0_16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cde2febb53_0_16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5df37cac0_0_1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g395df37cac0_0_17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95df37cac0_0_17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5df37cac0_0_1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g395df37cac0_0_15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95df37cac0_0_15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5df37cac0_0_1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g395df37cac0_0_19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95df37cac0_0_19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5df37cac0_0_2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95df37cac0_0_20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95df37cac0_0_20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de2febb53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g3cde2febb53_0_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cde2febb53_0_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de2febb53_0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g3cde2febb53_0_2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cde2febb53_0_2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de2febb53_0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g3cde2febb53_0_4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cde2febb53_0_4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de2febb53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cde2febb53_0_6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cde2febb53_0_6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de2febb53_0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g3cde2febb53_0_8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cde2febb53_0_8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95df37cac0_0_2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g395df37cac0_0_22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95df37cac0_0_22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5df37cac0_0_2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g395df37cac0_0_24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95df37cac0_0_24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95df37cac0_0_2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g395df37cac0_0_25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95df37cac0_0_25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95df37cac0_0_2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g395df37cac0_0_26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95df37cac0_0_26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95df37cac0_0_2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g395df37cac0_0_27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95df37cac0_0_27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de2febb53_0_1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g3cde2febb53_0_13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cde2febb53_0_13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4" Type="http://schemas.openxmlformats.org/officeDocument/2006/relationships/image" Target="../media/image94.png"/><Relationship Id="rId23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26" Type="http://schemas.openxmlformats.org/officeDocument/2006/relationships/image" Target="../media/image34.png"/><Relationship Id="rId25" Type="http://schemas.openxmlformats.org/officeDocument/2006/relationships/image" Target="../media/image37.png"/><Relationship Id="rId28" Type="http://schemas.openxmlformats.org/officeDocument/2006/relationships/image" Target="../media/image51.png"/><Relationship Id="rId27" Type="http://schemas.openxmlformats.org/officeDocument/2006/relationships/image" Target="../media/image3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29" Type="http://schemas.openxmlformats.org/officeDocument/2006/relationships/image" Target="../media/image29.png"/><Relationship Id="rId7" Type="http://schemas.openxmlformats.org/officeDocument/2006/relationships/image" Target="../media/image8.png"/><Relationship Id="rId8" Type="http://schemas.openxmlformats.org/officeDocument/2006/relationships/image" Target="../media/image15.png"/><Relationship Id="rId31" Type="http://schemas.openxmlformats.org/officeDocument/2006/relationships/image" Target="../media/image25.png"/><Relationship Id="rId30" Type="http://schemas.openxmlformats.org/officeDocument/2006/relationships/image" Target="../media/image27.png"/><Relationship Id="rId11" Type="http://schemas.openxmlformats.org/officeDocument/2006/relationships/image" Target="../media/image14.png"/><Relationship Id="rId33" Type="http://schemas.openxmlformats.org/officeDocument/2006/relationships/image" Target="../media/image74.png"/><Relationship Id="rId10" Type="http://schemas.openxmlformats.org/officeDocument/2006/relationships/image" Target="../media/image24.png"/><Relationship Id="rId32" Type="http://schemas.openxmlformats.org/officeDocument/2006/relationships/image" Target="../media/image30.png"/><Relationship Id="rId13" Type="http://schemas.openxmlformats.org/officeDocument/2006/relationships/image" Target="../media/image19.png"/><Relationship Id="rId35" Type="http://schemas.openxmlformats.org/officeDocument/2006/relationships/image" Target="../media/image32.png"/><Relationship Id="rId12" Type="http://schemas.openxmlformats.org/officeDocument/2006/relationships/image" Target="../media/image58.png"/><Relationship Id="rId34" Type="http://schemas.openxmlformats.org/officeDocument/2006/relationships/image" Target="../media/image28.png"/><Relationship Id="rId15" Type="http://schemas.openxmlformats.org/officeDocument/2006/relationships/image" Target="../media/image26.png"/><Relationship Id="rId14" Type="http://schemas.openxmlformats.org/officeDocument/2006/relationships/image" Target="../media/image9.png"/><Relationship Id="rId36" Type="http://schemas.openxmlformats.org/officeDocument/2006/relationships/image" Target="../media/image33.png"/><Relationship Id="rId17" Type="http://schemas.openxmlformats.org/officeDocument/2006/relationships/image" Target="../media/image12.png"/><Relationship Id="rId16" Type="http://schemas.openxmlformats.org/officeDocument/2006/relationships/image" Target="../media/image17.png"/><Relationship Id="rId19" Type="http://schemas.openxmlformats.org/officeDocument/2006/relationships/image" Target="../media/image23.png"/><Relationship Id="rId1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Relationship Id="rId10" Type="http://schemas.openxmlformats.org/officeDocument/2006/relationships/image" Target="../media/image4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63.jp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50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Relationship Id="rId10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Relationship Id="rId9" Type="http://schemas.openxmlformats.org/officeDocument/2006/relationships/image" Target="../media/image53.png"/><Relationship Id="rId5" Type="http://schemas.openxmlformats.org/officeDocument/2006/relationships/image" Target="../media/image49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52.jpg"/><Relationship Id="rId10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9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7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7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93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Relationship Id="rId10" Type="http://schemas.openxmlformats.org/officeDocument/2006/relationships/image" Target="../media/image5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92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Relationship Id="rId7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59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8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65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66.png"/><Relationship Id="rId11" Type="http://schemas.openxmlformats.org/officeDocument/2006/relationships/image" Target="../media/image68.png"/><Relationship Id="rId10" Type="http://schemas.openxmlformats.org/officeDocument/2006/relationships/image" Target="../media/image7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8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73.png"/><Relationship Id="rId11" Type="http://schemas.openxmlformats.org/officeDocument/2006/relationships/image" Target="../media/image67.png"/><Relationship Id="rId10" Type="http://schemas.openxmlformats.org/officeDocument/2006/relationships/image" Target="../media/image7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71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69.png"/><Relationship Id="rId11" Type="http://schemas.openxmlformats.org/officeDocument/2006/relationships/image" Target="../media/image75.png"/><Relationship Id="rId10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6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72.png"/><Relationship Id="rId11" Type="http://schemas.openxmlformats.org/officeDocument/2006/relationships/image" Target="../media/image83.png"/><Relationship Id="rId10" Type="http://schemas.openxmlformats.org/officeDocument/2006/relationships/image" Target="../media/image7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86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9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81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82.png"/><Relationship Id="rId11" Type="http://schemas.openxmlformats.org/officeDocument/2006/relationships/image" Target="../media/image90.png"/><Relationship Id="rId10" Type="http://schemas.openxmlformats.org/officeDocument/2006/relationships/image" Target="../media/image8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85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89.png"/><Relationship Id="rId11" Type="http://schemas.openxmlformats.org/officeDocument/2006/relationships/image" Target="../media/image95.png"/><Relationship Id="rId10" Type="http://schemas.openxmlformats.org/officeDocument/2006/relationships/image" Target="../media/image9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1255" l="0" r="1255" t="0"/>
          <a:stretch/>
        </p:blipFill>
        <p:spPr>
          <a:xfrm>
            <a:off x="4702404" y="832585"/>
            <a:ext cx="49735" cy="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3"/>
          <p:cNvPicPr preferRelativeResize="0"/>
          <p:nvPr/>
        </p:nvPicPr>
        <p:blipFill rotWithShape="1">
          <a:blip r:embed="rId4">
            <a:alphaModFix/>
          </a:blip>
          <a:srcRect b="1255" l="0" r="1255" t="0"/>
          <a:stretch/>
        </p:blipFill>
        <p:spPr>
          <a:xfrm>
            <a:off x="7394287" y="3146435"/>
            <a:ext cx="28087" cy="2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1255" l="0" r="1255" t="0"/>
          <a:stretch/>
        </p:blipFill>
        <p:spPr>
          <a:xfrm>
            <a:off x="7850508" y="2517359"/>
            <a:ext cx="28087" cy="2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3"/>
          <p:cNvPicPr preferRelativeResize="0"/>
          <p:nvPr/>
        </p:nvPicPr>
        <p:blipFill rotWithShape="1">
          <a:blip r:embed="rId4">
            <a:alphaModFix/>
          </a:blip>
          <a:srcRect b="1255" l="0" r="1255" t="0"/>
          <a:stretch/>
        </p:blipFill>
        <p:spPr>
          <a:xfrm>
            <a:off x="7465847" y="4615076"/>
            <a:ext cx="28087" cy="2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3"/>
          <p:cNvPicPr preferRelativeResize="0"/>
          <p:nvPr/>
        </p:nvPicPr>
        <p:blipFill rotWithShape="1">
          <a:blip r:embed="rId4">
            <a:alphaModFix/>
          </a:blip>
          <a:srcRect b="1255" l="0" r="1255" t="0"/>
          <a:stretch/>
        </p:blipFill>
        <p:spPr>
          <a:xfrm>
            <a:off x="625205" y="2532747"/>
            <a:ext cx="28087" cy="2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1255" l="0" r="1255" t="0"/>
          <a:stretch/>
        </p:blipFill>
        <p:spPr>
          <a:xfrm>
            <a:off x="-41432" y="3905107"/>
            <a:ext cx="28087" cy="2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6486456" y="3870459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3106636" y="4598858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4103366" y="4765153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4842254" y="3686882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7059421" y="1863527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280794" y="2068982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4910376" y="2856925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5806276" y="3643794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4205694" y="999279"/>
            <a:ext cx="21455" cy="21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3"/>
          <p:cNvPicPr preferRelativeResize="0"/>
          <p:nvPr/>
        </p:nvPicPr>
        <p:blipFill rotWithShape="1">
          <a:blip r:embed="rId4">
            <a:alphaModFix/>
          </a:blip>
          <a:srcRect b="1256" l="0" r="1256" t="0"/>
          <a:stretch/>
        </p:blipFill>
        <p:spPr>
          <a:xfrm>
            <a:off x="7630796" y="404323"/>
            <a:ext cx="24848" cy="2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3"/>
          <p:cNvPicPr preferRelativeResize="0"/>
          <p:nvPr/>
        </p:nvPicPr>
        <p:blipFill rotWithShape="1">
          <a:blip r:embed="rId5">
            <a:alphaModFix/>
          </a:blip>
          <a:srcRect b="1255" l="0" r="1255" t="0"/>
          <a:stretch/>
        </p:blipFill>
        <p:spPr>
          <a:xfrm>
            <a:off x="2367146" y="2200025"/>
            <a:ext cx="20609" cy="20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3"/>
          <p:cNvPicPr preferRelativeResize="0"/>
          <p:nvPr/>
        </p:nvPicPr>
        <p:blipFill rotWithShape="1">
          <a:blip r:embed="rId6">
            <a:alphaModFix/>
          </a:blip>
          <a:srcRect b="1256" l="0" r="1252" t="0"/>
          <a:stretch/>
        </p:blipFill>
        <p:spPr>
          <a:xfrm>
            <a:off x="1532863" y="1920788"/>
            <a:ext cx="30906" cy="30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3"/>
          <p:cNvPicPr preferRelativeResize="0"/>
          <p:nvPr/>
        </p:nvPicPr>
        <p:blipFill rotWithShape="1">
          <a:blip r:embed="rId4">
            <a:alphaModFix/>
          </a:blip>
          <a:srcRect b="1254" l="0" r="1254" t="0"/>
          <a:stretch/>
        </p:blipFill>
        <p:spPr>
          <a:xfrm>
            <a:off x="1736582" y="103908"/>
            <a:ext cx="24638" cy="24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3"/>
          <p:cNvPicPr preferRelativeResize="0"/>
          <p:nvPr/>
        </p:nvPicPr>
        <p:blipFill rotWithShape="1">
          <a:blip r:embed="rId5">
            <a:alphaModFix/>
          </a:blip>
          <a:srcRect b="1256" l="0" r="1256" t="0"/>
          <a:stretch/>
        </p:blipFill>
        <p:spPr>
          <a:xfrm>
            <a:off x="5925150" y="954307"/>
            <a:ext cx="21234" cy="21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3"/>
          <p:cNvPicPr preferRelativeResize="0"/>
          <p:nvPr/>
        </p:nvPicPr>
        <p:blipFill rotWithShape="1">
          <a:blip r:embed="rId3">
            <a:alphaModFix/>
          </a:blip>
          <a:srcRect b="1255" l="0" r="1255" t="0"/>
          <a:stretch/>
        </p:blipFill>
        <p:spPr>
          <a:xfrm>
            <a:off x="4983652" y="229644"/>
            <a:ext cx="49735" cy="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6996604" y="3639416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5523945" y="1847484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6046843" y="1262732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1799524" y="3909908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452983" y="2927593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3419885" y="1596043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3"/>
          <p:cNvPicPr preferRelativeResize="0"/>
          <p:nvPr/>
        </p:nvPicPr>
        <p:blipFill rotWithShape="1">
          <a:blip r:embed="rId7">
            <a:alphaModFix/>
          </a:blip>
          <a:srcRect b="1252" l="0" r="1252" t="0"/>
          <a:stretch/>
        </p:blipFill>
        <p:spPr>
          <a:xfrm>
            <a:off x="6331222" y="3129101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3"/>
          <p:cNvPicPr preferRelativeResize="0"/>
          <p:nvPr/>
        </p:nvPicPr>
        <p:blipFill rotWithShape="1">
          <a:blip r:embed="rId5">
            <a:alphaModFix/>
          </a:blip>
          <a:srcRect b="1252" l="0" r="1252" t="0"/>
          <a:stretch/>
        </p:blipFill>
        <p:spPr>
          <a:xfrm>
            <a:off x="6663083" y="221004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3"/>
          <p:cNvPicPr preferRelativeResize="0"/>
          <p:nvPr/>
        </p:nvPicPr>
        <p:blipFill rotWithShape="1">
          <a:blip r:embed="rId7">
            <a:alphaModFix/>
          </a:blip>
          <a:srcRect b="1252" l="0" r="1252" t="0"/>
          <a:stretch/>
        </p:blipFill>
        <p:spPr>
          <a:xfrm>
            <a:off x="2457034" y="535215"/>
            <a:ext cx="20112" cy="2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3"/>
          <p:cNvPicPr preferRelativeResize="0"/>
          <p:nvPr/>
        </p:nvPicPr>
        <p:blipFill rotWithShape="1">
          <a:blip r:embed="rId8">
            <a:alphaModFix/>
          </a:blip>
          <a:srcRect b="1254" l="0" r="1254" t="0"/>
          <a:stretch/>
        </p:blipFill>
        <p:spPr>
          <a:xfrm>
            <a:off x="2899100" y="3136"/>
            <a:ext cx="29137" cy="29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3"/>
          <p:cNvPicPr preferRelativeResize="0"/>
          <p:nvPr/>
        </p:nvPicPr>
        <p:blipFill rotWithShape="1">
          <a:blip r:embed="rId3">
            <a:alphaModFix/>
          </a:blip>
          <a:srcRect b="1255" l="0" r="1255" t="0"/>
          <a:stretch/>
        </p:blipFill>
        <p:spPr>
          <a:xfrm>
            <a:off x="3356835" y="548306"/>
            <a:ext cx="49735" cy="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3"/>
          <p:cNvPicPr preferRelativeResize="0"/>
          <p:nvPr/>
        </p:nvPicPr>
        <p:blipFill rotWithShape="1">
          <a:blip r:embed="rId8">
            <a:alphaModFix/>
          </a:blip>
          <a:srcRect b="1254" l="0" r="1254" t="0"/>
          <a:stretch/>
        </p:blipFill>
        <p:spPr>
          <a:xfrm>
            <a:off x="2330398" y="1600745"/>
            <a:ext cx="29137" cy="29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3"/>
          <p:cNvPicPr preferRelativeResize="0"/>
          <p:nvPr/>
        </p:nvPicPr>
        <p:blipFill rotWithShape="1">
          <a:blip r:embed="rId9">
            <a:alphaModFix/>
          </a:blip>
          <a:srcRect b="1253" l="0" r="1253" t="0"/>
          <a:stretch/>
        </p:blipFill>
        <p:spPr>
          <a:xfrm>
            <a:off x="1424081" y="3980157"/>
            <a:ext cx="33741" cy="33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3"/>
          <p:cNvPicPr preferRelativeResize="0"/>
          <p:nvPr/>
        </p:nvPicPr>
        <p:blipFill rotWithShape="1">
          <a:blip r:embed="rId3">
            <a:alphaModFix/>
          </a:blip>
          <a:srcRect b="1255" l="0" r="1255" t="0"/>
          <a:stretch/>
        </p:blipFill>
        <p:spPr>
          <a:xfrm>
            <a:off x="6056818" y="464260"/>
            <a:ext cx="49735" cy="49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3"/>
          <p:cNvPicPr preferRelativeResize="0"/>
          <p:nvPr/>
        </p:nvPicPr>
        <p:blipFill rotWithShape="1">
          <a:blip r:embed="rId10">
            <a:alphaModFix/>
          </a:blip>
          <a:srcRect b="1255" l="0" r="1255" t="0"/>
          <a:stretch/>
        </p:blipFill>
        <p:spPr>
          <a:xfrm>
            <a:off x="7251193" y="881584"/>
            <a:ext cx="33199" cy="33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3"/>
          <p:cNvPicPr preferRelativeResize="0"/>
          <p:nvPr/>
        </p:nvPicPr>
        <p:blipFill rotWithShape="1">
          <a:blip r:embed="rId11">
            <a:alphaModFix/>
          </a:blip>
          <a:srcRect b="1256" l="0" r="1256" t="0"/>
          <a:stretch/>
        </p:blipFill>
        <p:spPr>
          <a:xfrm>
            <a:off x="7089055" y="681920"/>
            <a:ext cx="13441" cy="13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3"/>
          <p:cNvPicPr preferRelativeResize="0"/>
          <p:nvPr/>
        </p:nvPicPr>
        <p:blipFill rotWithShape="1">
          <a:blip r:embed="rId7">
            <a:alphaModFix/>
          </a:blip>
          <a:srcRect b="1254" l="0" r="1254" t="0"/>
          <a:stretch/>
        </p:blipFill>
        <p:spPr>
          <a:xfrm>
            <a:off x="5724275" y="644416"/>
            <a:ext cx="23389" cy="23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3"/>
          <p:cNvPicPr preferRelativeResize="0"/>
          <p:nvPr/>
        </p:nvPicPr>
        <p:blipFill rotWithShape="1">
          <a:blip r:embed="rId7">
            <a:alphaModFix/>
          </a:blip>
          <a:srcRect b="1254" l="0" r="1254" t="0"/>
          <a:stretch/>
        </p:blipFill>
        <p:spPr>
          <a:xfrm>
            <a:off x="3416579" y="4272750"/>
            <a:ext cx="23389" cy="2338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1964596" y="-6951"/>
            <a:ext cx="7520100" cy="4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 rot="-9110333">
            <a:off x="5957817" y="1874461"/>
            <a:ext cx="216759" cy="4610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 rot="-9112119">
            <a:off x="6004971" y="1851913"/>
            <a:ext cx="377947" cy="361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 rot="-10713890">
            <a:off x="7166293" y="-915503"/>
            <a:ext cx="2383648" cy="2383648"/>
          </a:xfrm>
          <a:prstGeom prst="ellipse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 rot="-10713638">
            <a:off x="7450600" y="40212"/>
            <a:ext cx="1122654" cy="1122654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 rot="-10713668">
            <a:off x="7465855" y="241227"/>
            <a:ext cx="824360" cy="824360"/>
          </a:xfrm>
          <a:prstGeom prst="ellipse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 rot="-10713867">
            <a:off x="3612578" y="-68670"/>
            <a:ext cx="4239130" cy="423913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 rot="-10713781">
            <a:off x="4721938" y="1131106"/>
            <a:ext cx="2284919" cy="2284919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 rot="-10713830">
            <a:off x="4072417" y="1453150"/>
            <a:ext cx="2537597" cy="2542995"/>
          </a:xfrm>
          <a:prstGeom prst="ellipse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 rot="7403677">
            <a:off x="5696249" y="1471306"/>
            <a:ext cx="693856" cy="1187350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 rot="6017268">
            <a:off x="5862633" y="1496272"/>
            <a:ext cx="270448" cy="847542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 rot="4540244">
            <a:off x="5844195" y="1292046"/>
            <a:ext cx="270309" cy="1032998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 rot="8745796">
            <a:off x="6052773" y="1554649"/>
            <a:ext cx="270345" cy="1187549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 rot="10601595">
            <a:off x="6075825" y="1566324"/>
            <a:ext cx="270450" cy="1187289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12">
            <a:alphaModFix/>
          </a:blip>
          <a:srcRect b="-8561" l="0" r="69003" t="0"/>
          <a:stretch/>
        </p:blipFill>
        <p:spPr>
          <a:xfrm>
            <a:off x="7279753" y="1954441"/>
            <a:ext cx="247235" cy="1399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3"/>
          <p:cNvPicPr preferRelativeResize="0"/>
          <p:nvPr/>
        </p:nvPicPr>
        <p:blipFill rotWithShape="1">
          <a:blip r:embed="rId13">
            <a:alphaModFix/>
          </a:blip>
          <a:srcRect b="10036" l="0" r="0" t="0"/>
          <a:stretch/>
        </p:blipFill>
        <p:spPr>
          <a:xfrm>
            <a:off x="5397771" y="-370621"/>
            <a:ext cx="3481065" cy="326006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 rot="-8896321">
            <a:off x="6144324" y="1715146"/>
            <a:ext cx="243018" cy="746035"/>
          </a:xfrm>
          <a:prstGeom prst="ellipse">
            <a:avLst/>
          </a:prstGeom>
          <a:solidFill>
            <a:srgbClr val="FEFE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17425" y="360315"/>
            <a:ext cx="1665617" cy="189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3"/>
          <p:cNvPicPr preferRelativeResize="0"/>
          <p:nvPr/>
        </p:nvPicPr>
        <p:blipFill rotWithShape="1">
          <a:blip r:embed="rId15">
            <a:alphaModFix/>
          </a:blip>
          <a:srcRect b="70968" l="0" r="-4435" t="0"/>
          <a:stretch/>
        </p:blipFill>
        <p:spPr>
          <a:xfrm>
            <a:off x="6402890" y="1365689"/>
            <a:ext cx="2773760" cy="746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3"/>
          <p:cNvPicPr preferRelativeResize="0"/>
          <p:nvPr/>
        </p:nvPicPr>
        <p:blipFill rotWithShape="1">
          <a:blip r:embed="rId16">
            <a:alphaModFix/>
          </a:blip>
          <a:srcRect b="-5898" l="0" r="34755" t="0"/>
          <a:stretch/>
        </p:blipFill>
        <p:spPr>
          <a:xfrm>
            <a:off x="4875389" y="275448"/>
            <a:ext cx="1383899" cy="1981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3"/>
          <p:cNvPicPr preferRelativeResize="0"/>
          <p:nvPr/>
        </p:nvPicPr>
        <p:blipFill rotWithShape="1">
          <a:blip r:embed="rId17">
            <a:alphaModFix/>
          </a:blip>
          <a:srcRect b="30417" l="0" r="78096" t="0"/>
          <a:stretch/>
        </p:blipFill>
        <p:spPr>
          <a:xfrm>
            <a:off x="7149396" y="-898025"/>
            <a:ext cx="322386" cy="1912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3"/>
          <p:cNvPicPr preferRelativeResize="0"/>
          <p:nvPr/>
        </p:nvPicPr>
        <p:blipFill rotWithShape="1">
          <a:blip r:embed="rId18">
            <a:alphaModFix/>
          </a:blip>
          <a:srcRect b="-7276" l="0" r="12345" t="0"/>
          <a:stretch/>
        </p:blipFill>
        <p:spPr>
          <a:xfrm>
            <a:off x="4475215" y="559670"/>
            <a:ext cx="2412044" cy="16267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762371" y="2709117"/>
            <a:ext cx="600957" cy="1030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829379" y="2654729"/>
            <a:ext cx="543053" cy="360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41946" y="1215844"/>
            <a:ext cx="828339" cy="136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3"/>
          <p:cNvPicPr preferRelativeResize="0"/>
          <p:nvPr/>
        </p:nvPicPr>
        <p:blipFill rotWithShape="1">
          <a:blip r:embed="rId22">
            <a:alphaModFix/>
          </a:blip>
          <a:srcRect b="5987" l="0" r="-2226" t="0"/>
          <a:stretch/>
        </p:blipFill>
        <p:spPr>
          <a:xfrm>
            <a:off x="5138480" y="722915"/>
            <a:ext cx="757419" cy="495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562666" y="1451165"/>
            <a:ext cx="624087" cy="263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3"/>
          <p:cNvPicPr preferRelativeResize="0"/>
          <p:nvPr/>
        </p:nvPicPr>
        <p:blipFill rotWithShape="1">
          <a:blip r:embed="rId24">
            <a:alphaModFix/>
          </a:blip>
          <a:srcRect b="72819" l="0" r="-10094" t="0"/>
          <a:stretch/>
        </p:blipFill>
        <p:spPr>
          <a:xfrm>
            <a:off x="5924962" y="-772298"/>
            <a:ext cx="637956" cy="270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3"/>
          <p:cNvPicPr preferRelativeResize="0"/>
          <p:nvPr/>
        </p:nvPicPr>
        <p:blipFill rotWithShape="1">
          <a:blip r:embed="rId25">
            <a:alphaModFix/>
          </a:blip>
          <a:srcRect b="30215" l="0" r="34413" t="0"/>
          <a:stretch/>
        </p:blipFill>
        <p:spPr>
          <a:xfrm>
            <a:off x="2608354" y="-1245262"/>
            <a:ext cx="6082970" cy="3871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3"/>
          <p:cNvPicPr preferRelativeResize="0"/>
          <p:nvPr/>
        </p:nvPicPr>
        <p:blipFill rotWithShape="1">
          <a:blip r:embed="rId26">
            <a:alphaModFix/>
          </a:blip>
          <a:srcRect b="21300" l="0" r="26613" t="0"/>
          <a:stretch/>
        </p:blipFill>
        <p:spPr>
          <a:xfrm>
            <a:off x="4202979" y="-563355"/>
            <a:ext cx="5159854" cy="331046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 rot="-10712433">
            <a:off x="4951243" y="1088964"/>
            <a:ext cx="47115" cy="47115"/>
          </a:xfrm>
          <a:prstGeom prst="ellipse">
            <a:avLst/>
          </a:prstGeom>
          <a:solidFill>
            <a:srgbClr val="B8B8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 rot="-10708754">
            <a:off x="4165271" y="450598"/>
            <a:ext cx="33912" cy="33912"/>
          </a:xfrm>
          <a:prstGeom prst="ellipse">
            <a:avLst/>
          </a:prstGeom>
          <a:solidFill>
            <a:srgbClr val="B8B8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 rot="-10708754">
            <a:off x="8880146" y="3050923"/>
            <a:ext cx="33912" cy="33912"/>
          </a:xfrm>
          <a:prstGeom prst="ellipse">
            <a:avLst/>
          </a:prstGeom>
          <a:solidFill>
            <a:srgbClr val="B8B8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92039" y="361651"/>
            <a:ext cx="5362939" cy="1648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Задача: </a:t>
            </a:r>
            <a:endParaRPr b="0" i="0" sz="1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Система децентрализованной </a:t>
            </a:r>
            <a:endParaRPr b="0" i="0" sz="1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F8F7F2"/>
              </a:buClr>
              <a:buSzPts val="3600"/>
              <a:buFont typeface="Calibri"/>
              <a:buNone/>
            </a:pPr>
            <a:r>
              <a:rPr b="0" i="0" lang="en" sz="36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связи</a:t>
            </a:r>
            <a:endParaRPr b="0" i="0" sz="36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257400" y="4601397"/>
            <a:ext cx="67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EM"/>
              <a:buNone/>
            </a:pPr>
            <a:r>
              <a:rPr b="0" i="0" lang="en" sz="1341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2026</a:t>
            </a:r>
            <a:endParaRPr b="0" i="0" sz="1341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11931" y="4679156"/>
            <a:ext cx="8701088" cy="54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204788" y="4672013"/>
            <a:ext cx="14288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910638" y="4672013"/>
            <a:ext cx="14288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064322" y="2675212"/>
            <a:ext cx="1600474" cy="1874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372729" y="1289522"/>
            <a:ext cx="975516" cy="7179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663356" y="1807960"/>
            <a:ext cx="877523" cy="89258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 rot="3644763">
            <a:off x="3766802" y="1557272"/>
            <a:ext cx="117254" cy="117254"/>
          </a:xfrm>
          <a:prstGeom prst="ellipse">
            <a:avLst/>
          </a:prstGeom>
          <a:solidFill>
            <a:srgbClr val="1E0BB9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3445260" y="1614685"/>
            <a:ext cx="944038" cy="827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694414" y="1354057"/>
            <a:ext cx="209679" cy="171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960353" y="1814616"/>
            <a:ext cx="200813" cy="18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712396" y="1386109"/>
            <a:ext cx="209679" cy="171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942371" y="1782564"/>
            <a:ext cx="200813" cy="18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759371" y="1574559"/>
            <a:ext cx="225862" cy="21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827001" y="3984860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996605" y="3451877"/>
            <a:ext cx="1954716" cy="360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207077" y="3053717"/>
            <a:ext cx="4557189" cy="2093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Команда: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Ядро Знаний</a:t>
            </a:r>
            <a:br>
              <a:rPr b="0" i="0" lang="en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Участники: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Титарь Игорь Андреевич</a:t>
            </a:r>
            <a:endParaRPr b="0" i="0" sz="2000" u="none" cap="none" strike="noStrike">
              <a:solidFill>
                <a:srgbClr val="F8F7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Юсупов Артур Рустемович</a:t>
            </a:r>
            <a:endParaRPr b="0" i="0" sz="2000" u="none" cap="none" strike="noStrike">
              <a:solidFill>
                <a:srgbClr val="F8F7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Ефименко Григорий Сергеевич</a:t>
            </a:r>
            <a:endParaRPr b="0" i="0" sz="2000" u="none" cap="none" strike="noStrike">
              <a:solidFill>
                <a:srgbClr val="F8F7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8F7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Турчин Даниил Вадимович</a:t>
            </a:r>
            <a:endParaRPr b="0" i="0" sz="2000" u="none" cap="none" strike="noStrike">
              <a:solidFill>
                <a:srgbClr val="F8F7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8F7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4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479833" y="1995679"/>
            <a:ext cx="8343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Решение: </a:t>
            </a:r>
            <a:r>
              <a:rPr lang="en" sz="2400">
                <a:solidFill>
                  <a:schemeClr val="lt1"/>
                </a:solidFill>
                <a:highlight>
                  <a:srgbClr val="191919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д</a:t>
            </a:r>
            <a:r>
              <a:rPr b="0" i="0" lang="en" sz="2400" u="none" cap="none" strike="noStrike">
                <a:solidFill>
                  <a:schemeClr val="lt1"/>
                </a:solidFill>
                <a:highlight>
                  <a:srgbClr val="191919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ецентрализованная Mesh-система связи на Kotlin Multiplatform – Expert-Link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219813" y="651472"/>
            <a:ext cx="7290291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5483" y="683360"/>
            <a:ext cx="83520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Проблема: </a:t>
            </a:r>
            <a:r>
              <a:rPr lang="en" sz="2400">
                <a:solidFill>
                  <a:schemeClr val="lt1"/>
                </a:solidFill>
                <a:highlight>
                  <a:srgbClr val="191919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о</a:t>
            </a:r>
            <a:r>
              <a:rPr b="0" i="0" lang="en" sz="2400" u="none" cap="none" strike="noStrike">
                <a:solidFill>
                  <a:schemeClr val="lt1"/>
                </a:solidFill>
                <a:highlight>
                  <a:srgbClr val="191919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тказ централизованной инфраструктуры, перегрузка сетей, закрытые зоны.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79807" y="3081812"/>
            <a:ext cx="8343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Технологический стек: </a:t>
            </a: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</a:t>
            </a: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otlin multiplatform, Compose multiplatform, Ktor, Koin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72071" y="3918928"/>
            <a:ext cx="1762487" cy="1172855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4550" y="3942073"/>
            <a:ext cx="2345671" cy="117285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5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5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006125" y="1376225"/>
            <a:ext cx="71127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219813" y="651472"/>
            <a:ext cx="7290291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05995" y="707024"/>
            <a:ext cx="6905873" cy="705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Народное название уже было занято, поэтому мы попробовали </a:t>
            </a: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подойти с другой стороны</a:t>
            </a: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</a:t>
            </a: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 </a:t>
            </a:r>
            <a:r>
              <a:rPr b="0" i="0" lang="en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...</a:t>
            </a:r>
            <a:endParaRPr/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icture background" id="137" name="Google Shape;13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0629" y="1711837"/>
            <a:ext cx="5514312" cy="246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6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52400" y="93913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006125" y="1376225"/>
            <a:ext cx="71127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219813" y="651472"/>
            <a:ext cx="729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05995" y="707024"/>
            <a:ext cx="69060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Эксперт - линк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675" y="1539425"/>
            <a:ext cx="2542776" cy="254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4750" y="1765179"/>
            <a:ext cx="3687550" cy="2091262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4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797021" y="4148563"/>
            <a:ext cx="54405" cy="54405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8257273" y="3310168"/>
            <a:ext cx="54405" cy="54405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Почему наш мессенджер работает в самых разных местах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0" y="4787787"/>
            <a:ext cx="1809880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668375" y="3145850"/>
            <a:ext cx="63690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 лесу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14313" y="3843338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CORE.HEX // SYSTEM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[IMMERSION]........ENABLED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[ENGINEERING]......PRIORITY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[ACCOUNTABILITY]...LOCKED-IN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[NOISE FILTER].....ACTIVE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[EXTERNAL FACADE]..SUPPRESSED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[CREW STATUS]......STABLE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[MOTIVATION].......INTERNAL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OPERATING MODE: FOCUSED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THINKING LAYER: DEEP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234363" y="2447688"/>
            <a:ext cx="666750" cy="8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DEVELOPMENTS IN THE FIELD OF COMMUNICATIONS, INFORMATION TECHNOLOGY AND INFORMATION SECURITY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553450" y="2662000"/>
            <a:ext cx="328613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{...} LOADING . . . . 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174" name="Google Shape;1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944" y="1414196"/>
            <a:ext cx="3664425" cy="2101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на открытом воздухе, шляпа, земля&#10;&#10;Содержимое, созданное искусственным интеллектом, может быть неверным." id="175" name="Google Shape;1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64019" y="3189243"/>
            <a:ext cx="3377824" cy="192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27201" y="574713"/>
            <a:ext cx="3630074" cy="241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2499100" y="297875"/>
            <a:ext cx="6428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 парковке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8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4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797021" y="4148563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8257273" y="3310168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Канбан-доска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0" y="4787787"/>
            <a:ext cx="1809880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668375" y="3145850"/>
            <a:ext cx="63690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14313" y="3843338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CORE.HEX // SYSTEM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[IMMERSION]........ENABLED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[ENGINEERING]......PRIORITY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[ACCOUNTABILITY]...LOCKED-IN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[NOISE FILTER].....ACTIVE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[EXTERNAL FACADE]..SUPPRESSED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[CREW STATUS]......STABLE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[MOTIVATION].......INTERNAL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OPERATING MODE: FOCUSED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THINKING LAYER: DEEP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234363" y="2447688"/>
            <a:ext cx="666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DEVELOPMENTS IN THE FIELD OF COMMUNICATIONS, INFORMATION TECHNOLOGY AND INFORMATION SECURITY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553450" y="2662000"/>
            <a:ext cx="328500" cy="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{...} LOADING . . . . 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2499100" y="297875"/>
            <a:ext cx="6428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7" name="Google Shape;197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425" y="512450"/>
            <a:ext cx="9029148" cy="45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3" name="Google Shape;203;p9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4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797021" y="4148563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8257273" y="3310168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ER-диаграмма</a:t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сообщений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0" y="4787787"/>
            <a:ext cx="1809880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668375" y="3145850"/>
            <a:ext cx="63690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14313" y="3843338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CORE.HEX // SYSTEM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[IMMERSION]........ENABLED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[ENGINEERING]......PRIORITY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[ACCOUNTABILITY]...LOCKED-IN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[NOISE FILTER].....ACTIVE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[EXTERNAL FACADE]..SUPPRESSED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[CREW STATUS]......STABLE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[MOTIVATION].......INTERNAL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OPERATING MODE: FOCUSED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THINKING LAYER: DEEP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234363" y="2447688"/>
            <a:ext cx="666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DEVELOPMENTS IN THE FIELD OF COMMUNICATIONS, INFORMATION TECHNOLOGY AND INFORMATION SECURITY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553450" y="2662000"/>
            <a:ext cx="328500" cy="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{...} LOADING . . . . 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876" y="3464010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61750" y="82125"/>
            <a:ext cx="4776275" cy="49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4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797021" y="4148563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8257273" y="3310168"/>
            <a:ext cx="54300" cy="54300"/>
          </a:xfrm>
          <a:prstGeom prst="ellipse">
            <a:avLst/>
          </a:prstGeom>
          <a:solidFill>
            <a:srgbClr val="5757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ER-диаграмма</a:t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звонков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0" y="4787787"/>
            <a:ext cx="1809880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668375" y="3145850"/>
            <a:ext cx="63690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14313" y="3843338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CORE.HEX // SYSTEM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[IMMERSION]........ENABLED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[ENGINEERING]......PRIORITY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[ACCOUNTABILITY]...LOCKED-IN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[NOISE FILTER].....ACTIVE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[EXTERNAL FACADE]..SUPPRESSED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[CREW STATUS]......STABLE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[MOTIVATION].......INTERNAL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OPERATING MODE: FOCUSED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"/>
              <a:buFont typeface="REM"/>
              <a:buNone/>
            </a:pPr>
            <a:r>
              <a:rPr b="0" i="0" lang="en" sz="285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&gt; THINKING LAYER: DEEP  </a:t>
            </a:r>
            <a:endParaRPr b="0" i="0" sz="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234363" y="2447688"/>
            <a:ext cx="666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DEVELOPMENTS IN THE FIELD OF COMMUNICATIONS, INFORMATION TECHNOLOGY AND INFORMATION SECURITY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553450" y="2662000"/>
            <a:ext cx="328500" cy="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"/>
              <a:buFont typeface="REM"/>
              <a:buNone/>
            </a:pPr>
            <a:r>
              <a:rPr b="0" i="0" lang="en" sz="214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{...} LOADING . . . . </a:t>
            </a:r>
            <a:endParaRPr b="0" i="0" sz="2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876" y="3464010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1989" y="119413"/>
            <a:ext cx="4521961" cy="49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1" name="Google Shape;241;p11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11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1006125" y="1376225"/>
            <a:ext cx="71127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1676" y="4167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219813" y="651472"/>
            <a:ext cx="7290291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14525" y="118464"/>
            <a:ext cx="6905873" cy="705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Contract First</a:t>
            </a:r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55275" y="690621"/>
            <a:ext cx="5274924" cy="2733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253" name="Google Shape;253;p11"/>
          <p:cNvPicPr preferRelativeResize="0"/>
          <p:nvPr/>
        </p:nvPicPr>
        <p:blipFill rotWithShape="1">
          <a:blip r:embed="rId10">
            <a:alphaModFix/>
          </a:blip>
          <a:srcRect b="-707" l="0" r="931" t="52614"/>
          <a:stretch/>
        </p:blipFill>
        <p:spPr>
          <a:xfrm>
            <a:off x="136924" y="1666510"/>
            <a:ext cx="3402094" cy="21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1659100" y="2939100"/>
            <a:ext cx="5000700" cy="13512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contract — публичный API и DTO</a:t>
            </a: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backend — facade запуска mesh-узла.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backend:data — доменные модели и порты.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backend:application — прикладные use-case сервисы.</a:t>
            </a:r>
            <a:b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architecture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backend:infra — адаптеры транспорта, crypto и storage.</a:t>
            </a:r>
            <a:b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architecture</a:t>
            </a:r>
            <a:endParaRPr b="1"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backend:runtime — </a:t>
            </a: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обеспечивает реальный запуск узла и связывает входящие внешние события с внутренней логикой.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composeApp — KMP-клиент для Desktop и Android.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simulator — сценарный стенд для демонстрации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bootstrap — CLI-запуск узла по конфигу.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descr="preencoded.png" id="260" name="Google Shape;2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8050" y="31756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219813" y="651472"/>
            <a:ext cx="729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39975" y="99588"/>
            <a:ext cx="7137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Компонентная архитектурная диаграмма.</a:t>
            </a:r>
            <a:endParaRPr/>
          </a:p>
        </p:txBody>
      </p:sp>
      <p:pic>
        <p:nvPicPr>
          <p:cNvPr id="266" name="Google Shape;26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425" y="890975"/>
            <a:ext cx="1523950" cy="414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4275" y="3006204"/>
            <a:ext cx="2358750" cy="199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98775" y="835950"/>
            <a:ext cx="6154500" cy="20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149025" y="1284800"/>
            <a:ext cx="7538400" cy="13512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PacketEnvelope — это транспортная оболочка пакета.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Она содержит полезную нагрузку и метаданные доставки.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Payload — полезная нагрузка пакета, то есть содержательная часть сообщения, которую будет обрабатывать прикладной сервис.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Transport — слой доставки пакетов между узлами.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 этой схеме используется HTTP transport.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Lifecycle Service — центральная точка координации жизненного цикла узла и обработки входящих пакетов.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Именно через него пакет проходит до передачи в нужный use-case слой.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Dedup — дедупликация, то есть защита от повторной обработки одного и того же пакета.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Signature — проверка доверия и подписи пакета перед дальнейшей обработкой.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275" name="Google Shape;2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8050" y="31756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/>
          <p:nvPr/>
        </p:nvSpPr>
        <p:spPr>
          <a:xfrm>
            <a:off x="149025" y="437575"/>
            <a:ext cx="76032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Термины и определения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5194250" y="997525"/>
            <a:ext cx="3783300" cy="28596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через MeshNode отправляет пакет в transport как POST /api/v1/packets с PacketEnvelope.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Transport передаёт его в NodeLifecycleService (наш оркестратор) через handleIncomingPacket(envelope).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Затем внутри lifecycle выполняются технические проверки (дедупликация, trust и signature validation)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 этого lifecycle передаёт payload в соответствующий прикладной сервис — chat, файл call или еще куда-то….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Use-case сервис обрабатывает полезную нагрузку и возвращает результат.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Lifecycle формирует итог обработки.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Transport возвращает ответ доставки, например 202 или 502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286" name="Google Shape;2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8050" y="31756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219813" y="651472"/>
            <a:ext cx="729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39975" y="99600"/>
            <a:ext cx="7195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Последовательность обработки входящего сетевого пакета.</a:t>
            </a:r>
            <a:endParaRPr/>
          </a:p>
        </p:txBody>
      </p:sp>
      <p:pic>
        <p:nvPicPr>
          <p:cNvPr descr="Изображение выглядит как текст, снимок экрана, диаграмма, Шрифт&#10;&#10;Содержимое, созданное искусственным интеллектом, может быть неверным." id="292" name="Google Shape;29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7500" y="1390350"/>
            <a:ext cx="5046750" cy="295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/>
          <p:nvPr/>
        </p:nvSpPr>
        <p:spPr>
          <a:xfrm>
            <a:off x="149025" y="1284800"/>
            <a:ext cx="8701200" cy="13512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Signaling — это служебный обмен сообщениями, необходимый для установления, принятия, отклонения, завершения и сопровождения звонка.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не медиапоток, а именно управляющий обмен. 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CALL_INVITE — сигнал приглашения в звонок. Используется для инициации вызова и передачи факта входящего приглашения другой стороне.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CALL_SIGNAL — сигнал обмена служебными данными звонка. Через него передаются параметры WebRTC-согласования, например SDP_OFFER, SDP_ANSWER и ICE_CANDIDATE.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CALL_HANGUP — сигнал завершения звонка. Используется для корректного завершения вызова и синхронизации состояния сторон.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SDP_OFFER — начальное описание параметров медиасессии, которое отправляет инициатор звонка. Содержит сведения о форматах медиа, кодеках и параметрах соединения.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SDP_ANSWER — ответ на SDP_OFFER, который формирует принимающая сторона. Используется для подтверждения и согласования параметров медиасессии.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ICE_CANDIDATE — сетевой кандидат для установления peer-to-peer соединения между участниками звонка. Нужен для поиска и выбора подходящего сетевого пути передачи media-трафика.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State machine звонка — логика состояний звонка: создан, приглашён, принят, отклонён, завершён и так далее. (етой логикой управляет CallSignalingService)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299" name="Google Shape;2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8050" y="31756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/>
          <p:nvPr/>
        </p:nvSpPr>
        <p:spPr>
          <a:xfrm>
            <a:off x="149025" y="229963"/>
            <a:ext cx="76032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Термины и определения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4572000" y="831625"/>
            <a:ext cx="4482300" cy="28596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инициирует звонок. Это начинается с вызова MeshNode.startCall, после чего управление передаётся в NodeLifecycleService и далее в CallMediaService.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отправляет на узел B сообщение CALL_INVITE (encrypted).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старт signaling-части звонка, где вызывающая сторона уведомляет принимающую сторону о попытке установить вызов.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стороне узла A локальный MediaEngine A формирует SDP_OFFER и ICE-кандидаты. Это данные, необходимые для согласования будущей WebRTC media-сессии</a:t>
            </a:r>
            <a:b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именно CallMediaService управляет media lifecycle и отправкой исходящих SDP/ICE.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62511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/>
          <p:nvPr/>
        </p:nvSpPr>
        <p:spPr>
          <a:xfrm>
            <a:off x="39975" y="99600"/>
            <a:ext cx="7195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Поток звонка (signaling + media)</a:t>
            </a:r>
            <a:endParaRPr/>
          </a:p>
        </p:txBody>
      </p:sp>
      <p:pic>
        <p:nvPicPr>
          <p:cNvPr descr="Изображение выглядит как текст, снимок экрана, Шрифт, диаграмма&#10;&#10;Содержимое, созданное искусственным интеллектом, может быть неверным." id="314" name="Google Shape;31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0" y="1436450"/>
            <a:ext cx="4212601" cy="2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4572000" y="831625"/>
            <a:ext cx="4482300" cy="28596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 startAt="4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отправляет на узел B сообщение CALL_SIGNAL (SDP_OFFER). То есть SDP_OFFER и ICE не идут напрямую между media engine, а сначала упаковываются в signaling-пакет CALL_SIGNAL и передаются на второй узел. SDP_OFFER/SDP_ANSWER/ICE_CANDIDATE в CALL_SIGNAL пакеты.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 startAt="4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стороне узла B локальный MediaEngine B формирует SDP_ANSWER и свои ICE-кандидаты. Принимающая сторона обрабатывает входящий signaling и подготавливает ответные параметры своей media-сессии. В архитектуре входящие сигналы применяются к локальной media session через CallMediaService.handleSignal.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21" name="Google Shape;3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2" name="Google Shape;3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62511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/>
          <p:nvPr/>
        </p:nvSpPr>
        <p:spPr>
          <a:xfrm>
            <a:off x="39975" y="99600"/>
            <a:ext cx="7195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Поток звонка (signaling + media)</a:t>
            </a:r>
            <a:endParaRPr/>
          </a:p>
        </p:txBody>
      </p:sp>
      <p:pic>
        <p:nvPicPr>
          <p:cNvPr descr="Изображение выглядит как текст, снимок экрана, Шрифт, диаграмма&#10;&#10;Содержимое, созданное искусственным интеллектом, может быть неверным." id="325" name="Google Shape;32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0" y="1436450"/>
            <a:ext cx="4212601" cy="2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4502875" y="1408475"/>
            <a:ext cx="4482300" cy="28596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 startAt="6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B отправляет обратно на узел A сообщение CALL_SIGNAL (SDP_ANSWER/ICE).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Таким образом, вызывающая сторона получает ответные параметры для завершения согласования WebRTC-соединения.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 startAt="6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 обмена SDP и ICE между MediaEngine A и MediaEngine B устанавливается прямой WebRTC media-канал. На диаграмме это показано как двусторонний поток WebRTC media (DTLS-SRTP). Это именно передача аудио и/или видео между двумя media engine.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 startAt="6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Дальше звонок поддерживается как активная media-сессия.Дополнительные действия, такие как toggleMicrophone, toggleCamera и switchCamera, относятся уже к дальнейшему управлению media-состоянием и синхронизируются signaling-механизмом.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3" name="Google Shape;3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62511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/>
          <p:nvPr/>
        </p:nvSpPr>
        <p:spPr>
          <a:xfrm>
            <a:off x="39975" y="99600"/>
            <a:ext cx="7195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Поток звонка (signaling + media)</a:t>
            </a:r>
            <a:endParaRPr/>
          </a:p>
        </p:txBody>
      </p:sp>
      <p:pic>
        <p:nvPicPr>
          <p:cNvPr descr="Изображение выглядит как текст, снимок экрана, Шрифт, диаграмма&#10;&#10;Содержимое, созданное искусственным интеллектом, может быть неверным." id="336" name="Google Shape;33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0" y="1436450"/>
            <a:ext cx="4212601" cy="2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/>
          <p:nvPr/>
        </p:nvSpPr>
        <p:spPr>
          <a:xfrm>
            <a:off x="149025" y="1284800"/>
            <a:ext cx="8446500" cy="13512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FILE_OFFER — предложение передать файл. Отправитель сообщает получателю, что готов начать передачу файла.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FILE_ACCEPT — подтверждение приёма файла. Получатель согласен принять передачу и открывает передачу чанков.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FILE_CHUNK — отдельный фрагмент файла фиксированного размера. Передача идёт чанками последовательно, размер чанка задаётся параметром fileTransfer.chunkSizeBytes и по умолчанию равен 65 536 байт.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FILE_ACK — подтверждение получения чанка. Нужен для контроля доставки и перехода к следующему фрагменту.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FILE_COMPLETE — сообщение о завершении передачи. Получатель собирает файл и проверяет итоговый SHA-256 если хеш совпал, передача считается успешной.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FILE_RESUME_REQUEST — запрос на дозагрузку пропущенных чанков. Если при сборке обнаружены пропуски, получатель вычисляет недостающие части и запрашивает их повторно.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375" y="99588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8050" y="317563"/>
            <a:ext cx="1016350" cy="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9"/>
          <p:cNvSpPr/>
          <p:nvPr/>
        </p:nvSpPr>
        <p:spPr>
          <a:xfrm>
            <a:off x="149025" y="437575"/>
            <a:ext cx="76032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Термины и определения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3" name="Google Shape;353;p20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20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" y="654844"/>
            <a:ext cx="8701088" cy="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0"/>
          <p:cNvSpPr/>
          <p:nvPr/>
        </p:nvSpPr>
        <p:spPr>
          <a:xfrm>
            <a:off x="2388775" y="2308713"/>
            <a:ext cx="71127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60" name="Google Shape;36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5975" y="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10651" y="398373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/>
          <p:nvPr/>
        </p:nvSpPr>
        <p:spPr>
          <a:xfrm>
            <a:off x="219813" y="651472"/>
            <a:ext cx="7290291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473975" y="82450"/>
            <a:ext cx="40362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Поток передачи файла</a:t>
            </a:r>
            <a:endParaRPr/>
          </a:p>
        </p:txBody>
      </p:sp>
      <p:pic>
        <p:nvPicPr>
          <p:cNvPr descr="Изображение выглядит как текст, снимок экрана, Шрифт, число&#10;&#10;Содержимое, созданное искусственным интеллектом, может быть неверным." id="364" name="Google Shape;36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0726" y="1003975"/>
            <a:ext cx="4554784" cy="36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0"/>
          <p:cNvSpPr txBox="1"/>
          <p:nvPr/>
        </p:nvSpPr>
        <p:spPr>
          <a:xfrm>
            <a:off x="4777075" y="788350"/>
            <a:ext cx="40566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отправляет FILE_OFFER. Так начинается сценарий передачи файла.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B отвечает FILE_ACCEPT.Это означает, что получатель согласен принять файл.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Узел A начинает последовательно отправлять FILE_CHUNK. Файл режется на фиксированные чанки и отправляется по одному.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 каждого чанка узел B возвращает FILE_ACK.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Так подтверждается получение очередного фрагмента.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 передачи всех чанков получатель собирает файл и проверяет SHA-256.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Если итоговый хеш корректный, узел B отправляет FILE_COMPLETE.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Если есть пропуски, узел B отправляет FILE_RESUME_REQUEST.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Тогда отправитель дозагружает только недостающие чанки.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21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21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/>
          <p:nvPr/>
        </p:nvSpPr>
        <p:spPr>
          <a:xfrm>
            <a:off x="204775" y="147650"/>
            <a:ext cx="576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Безопасность</a:t>
            </a:r>
            <a:endParaRPr sz="2209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377" name="Google Shape;37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8000" y="1141625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5" name="Google Shape;385;p22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22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2"/>
          <p:cNvSpPr/>
          <p:nvPr/>
        </p:nvSpPr>
        <p:spPr>
          <a:xfrm>
            <a:off x="204775" y="147650"/>
            <a:ext cx="8444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Pairing invite</a:t>
            </a:r>
            <a:endParaRPr sz="2209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391" name="Google Shape;39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 txBox="1"/>
          <p:nvPr/>
        </p:nvSpPr>
        <p:spPr>
          <a:xfrm>
            <a:off x="365975" y="1521050"/>
            <a:ext cx="822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сопряжения генерируется invite, который защищён TTL и nonce.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нужно, чтобы invite нельзя было бесконечно переиспользовать и чтобы снизить риск replay-атаки. После успешного pairing узлы переходят в состояние TRUSTED. 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9" name="Google Shape;399;p23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23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3"/>
          <p:cNvSpPr/>
          <p:nvPr/>
        </p:nvSpPr>
        <p:spPr>
          <a:xfrm>
            <a:off x="204775" y="147650"/>
            <a:ext cx="8444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Идентичность узла</a:t>
            </a:r>
            <a:endParaRPr sz="2209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05" name="Google Shape;40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3"/>
          <p:cNvSpPr txBox="1"/>
          <p:nvPr/>
        </p:nvSpPr>
        <p:spPr>
          <a:xfrm>
            <a:off x="365975" y="1521050"/>
            <a:ext cx="822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 каждого узла есть криптографическая идентичность: peerId вычисляется как SHA-256(publicKey).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То есть внешний идентификатор узла не произвольный, а привязан к его открытому ключу.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8" name="Google Shape;40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9150" y="2657699"/>
            <a:ext cx="2331000" cy="22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4" name="Google Shape;414;p24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5" name="Google Shape;415;p24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4"/>
          <p:cNvSpPr/>
          <p:nvPr/>
        </p:nvSpPr>
        <p:spPr>
          <a:xfrm>
            <a:off x="204775" y="147650"/>
            <a:ext cx="8444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Пакеты и служебные идентификаторы</a:t>
            </a:r>
            <a:endParaRPr sz="2209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20" name="Google Shape;4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 txBox="1"/>
          <p:nvPr/>
        </p:nvSpPr>
        <p:spPr>
          <a:xfrm>
            <a:off x="365975" y="1521050"/>
            <a:ext cx="822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надёжности и анти-replay в системе используются packetId, messageId, а также ttl и hopCount внутри PacketEnvelope.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уже не шифрование, но важная часть безопасности и устойчивости к повторной доставке и избыточной пересылке пакетов. 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8" name="Google Shape;428;p25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9" name="Google Shape;429;p25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2" name="Google Shape;4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5"/>
          <p:cNvSpPr/>
          <p:nvPr/>
        </p:nvSpPr>
        <p:spPr>
          <a:xfrm>
            <a:off x="204775" y="147650"/>
            <a:ext cx="8444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Что и как шифруется???</a:t>
            </a:r>
            <a:endParaRPr sz="2209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34" name="Google Shape;4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5"/>
          <p:cNvSpPr txBox="1"/>
          <p:nvPr/>
        </p:nvSpPr>
        <p:spPr>
          <a:xfrm>
            <a:off x="365975" y="1521050"/>
            <a:ext cx="8228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Payload. Полезная нагрузка пакета шифруется через AES-GCM, а ключ защищается с помощью RSA-OAEP.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Данные шифруются симметричным алгоритмом, а ключ доставки или же сеанса защищается асимметрично.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Метаданные. Для метаданных пакета используется подпись через PacketSignatureService.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нужно для контроля целостности и подлинности служебной части пакета.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Звонки и media. Для real-time части signaling идёт отдельно через CALL_INVITE, CALL_SIGNAL, CALL_HANGUP, а media между узлами передаётся по WebRTC через DTLS-SRTP.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То есть управляющий обмен и медиапоток разделены, а аудио/видео защищаются транспортом WebRTC.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Передача файлов. При передаче файла после сборки проверяется SHA-256 всего файла.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Сейчас хеш каждого чанка передаётся в payload, но не проверяетсяя(((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2" name="Google Shape;442;p26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3" name="Google Shape;443;p26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6"/>
          <p:cNvSpPr/>
          <p:nvPr/>
        </p:nvSpPr>
        <p:spPr>
          <a:xfrm>
            <a:off x="0" y="-6975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6" name="Google Shape;4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6"/>
          <p:cNvSpPr/>
          <p:nvPr/>
        </p:nvSpPr>
        <p:spPr>
          <a:xfrm>
            <a:off x="204775" y="147650"/>
            <a:ext cx="4104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Наш мамонт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48" name="Google Shape;4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75" y="4554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03860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6"/>
          <p:cNvPicPr preferRelativeResize="0"/>
          <p:nvPr/>
        </p:nvPicPr>
        <p:blipFill rotWithShape="1">
          <a:blip r:embed="rId8">
            <a:alphaModFix/>
          </a:blip>
          <a:srcRect b="5408" l="0" r="0" t="4616"/>
          <a:stretch/>
        </p:blipFill>
        <p:spPr>
          <a:xfrm>
            <a:off x="219075" y="599659"/>
            <a:ext cx="1809876" cy="3618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6"/>
          <p:cNvPicPr preferRelativeResize="0"/>
          <p:nvPr/>
        </p:nvPicPr>
        <p:blipFill rotWithShape="1">
          <a:blip r:embed="rId9">
            <a:alphaModFix/>
          </a:blip>
          <a:srcRect b="5813" l="0" r="0" t="4613"/>
          <a:stretch/>
        </p:blipFill>
        <p:spPr>
          <a:xfrm>
            <a:off x="2296450" y="599650"/>
            <a:ext cx="1809876" cy="3618976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 rotWithShape="1">
          <a:blip r:embed="rId10">
            <a:alphaModFix/>
          </a:blip>
          <a:srcRect b="6006" l="0" r="0" t="4621"/>
          <a:stretch/>
        </p:blipFill>
        <p:spPr>
          <a:xfrm>
            <a:off x="4523625" y="599650"/>
            <a:ext cx="1809876" cy="3631101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</p:pic>
      <p:pic>
        <p:nvPicPr>
          <p:cNvPr id="453" name="Google Shape;453;p26"/>
          <p:cNvPicPr preferRelativeResize="0"/>
          <p:nvPr/>
        </p:nvPicPr>
        <p:blipFill rotWithShape="1">
          <a:blip r:embed="rId11">
            <a:alphaModFix/>
          </a:blip>
          <a:srcRect b="6006" l="0" r="0" t="4211"/>
          <a:stretch/>
        </p:blipFill>
        <p:spPr>
          <a:xfrm>
            <a:off x="6869500" y="611775"/>
            <a:ext cx="1809876" cy="361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9" name="Google Shape;459;p27"/>
          <p:cNvPicPr preferRelativeResize="0"/>
          <p:nvPr/>
        </p:nvPicPr>
        <p:blipFill rotWithShape="1">
          <a:blip r:embed="rId3">
            <a:alphaModFix/>
          </a:blip>
          <a:srcRect b="7308" l="0" r="0" t="0"/>
          <a:stretch/>
        </p:blipFill>
        <p:spPr>
          <a:xfrm>
            <a:off x="2296460" y="-238816"/>
            <a:ext cx="469626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0" name="Google Shape;460;p27"/>
          <p:cNvPicPr preferRelativeResize="0"/>
          <p:nvPr/>
        </p:nvPicPr>
        <p:blipFill rotWithShape="1">
          <a:blip r:embed="rId4">
            <a:alphaModFix/>
          </a:blip>
          <a:srcRect b="15970" l="0" r="9995" t="0"/>
          <a:stretch/>
        </p:blipFill>
        <p:spPr>
          <a:xfrm>
            <a:off x="17087" y="1412392"/>
            <a:ext cx="8228688" cy="250653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204788" y="4772025"/>
            <a:ext cx="416718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7"/>
          <p:cNvSpPr/>
          <p:nvPr/>
        </p:nvSpPr>
        <p:spPr>
          <a:xfrm>
            <a:off x="204787" y="147638"/>
            <a:ext cx="40112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65" name="Google Shape;46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" y="4318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7"/>
          <p:cNvPicPr preferRelativeResize="0"/>
          <p:nvPr/>
        </p:nvPicPr>
        <p:blipFill rotWithShape="1">
          <a:blip r:embed="rId8">
            <a:alphaModFix/>
          </a:blip>
          <a:srcRect b="5408" l="0" r="0" t="4616"/>
          <a:stretch/>
        </p:blipFill>
        <p:spPr>
          <a:xfrm>
            <a:off x="219075" y="543601"/>
            <a:ext cx="1688026" cy="3375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7"/>
          <p:cNvPicPr preferRelativeResize="0"/>
          <p:nvPr/>
        </p:nvPicPr>
        <p:blipFill rotWithShape="1">
          <a:blip r:embed="rId9">
            <a:alphaModFix/>
          </a:blip>
          <a:srcRect b="4805" l="0" r="0" t="4012"/>
          <a:stretch/>
        </p:blipFill>
        <p:spPr>
          <a:xfrm>
            <a:off x="2422975" y="597149"/>
            <a:ext cx="1809876" cy="366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7"/>
          <p:cNvPicPr preferRelativeResize="0"/>
          <p:nvPr/>
        </p:nvPicPr>
        <p:blipFill rotWithShape="1">
          <a:blip r:embed="rId10">
            <a:alphaModFix/>
          </a:blip>
          <a:srcRect b="6408" l="0" r="0" t="4218"/>
          <a:stretch/>
        </p:blipFill>
        <p:spPr>
          <a:xfrm>
            <a:off x="4572000" y="640875"/>
            <a:ext cx="1809876" cy="359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 rotWithShape="1">
          <a:blip r:embed="rId11">
            <a:alphaModFix/>
          </a:blip>
          <a:srcRect b="6415" l="0" r="0" t="4609"/>
          <a:stretch/>
        </p:blipFill>
        <p:spPr>
          <a:xfrm>
            <a:off x="6721025" y="639025"/>
            <a:ext cx="1809876" cy="357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6" name="Google Shape;476;p28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7" name="Google Shape;477;p28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8"/>
          <p:cNvSpPr/>
          <p:nvPr/>
        </p:nvSpPr>
        <p:spPr>
          <a:xfrm>
            <a:off x="204787" y="147638"/>
            <a:ext cx="401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тигр. Начало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82" name="Google Shape;48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000" y="4586125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8"/>
          <p:cNvPicPr preferRelativeResize="0"/>
          <p:nvPr/>
        </p:nvPicPr>
        <p:blipFill rotWithShape="1">
          <a:blip r:embed="rId8">
            <a:alphaModFix/>
          </a:blip>
          <a:srcRect b="5811" l="0" r="0" t="3814"/>
          <a:stretch/>
        </p:blipFill>
        <p:spPr>
          <a:xfrm>
            <a:off x="219075" y="591600"/>
            <a:ext cx="1809876" cy="363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8"/>
          <p:cNvPicPr preferRelativeResize="0"/>
          <p:nvPr/>
        </p:nvPicPr>
        <p:blipFill rotWithShape="1">
          <a:blip r:embed="rId9">
            <a:alphaModFix/>
          </a:blip>
          <a:srcRect b="5607" l="0" r="0" t="3813"/>
          <a:stretch/>
        </p:blipFill>
        <p:spPr>
          <a:xfrm>
            <a:off x="2492213" y="587575"/>
            <a:ext cx="1809876" cy="364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8"/>
          <p:cNvPicPr preferRelativeResize="0"/>
          <p:nvPr/>
        </p:nvPicPr>
        <p:blipFill rotWithShape="1">
          <a:blip r:embed="rId10">
            <a:alphaModFix/>
          </a:blip>
          <a:srcRect b="4406" l="0" r="0" t="3809"/>
          <a:stretch/>
        </p:blipFill>
        <p:spPr>
          <a:xfrm>
            <a:off x="4765350" y="591600"/>
            <a:ext cx="1809876" cy="36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8"/>
          <p:cNvPicPr preferRelativeResize="0"/>
          <p:nvPr/>
        </p:nvPicPr>
        <p:blipFill rotWithShape="1">
          <a:blip r:embed="rId11">
            <a:alphaModFix/>
          </a:blip>
          <a:srcRect b="4606" l="0" r="0" t="4012"/>
          <a:stretch/>
        </p:blipFill>
        <p:spPr>
          <a:xfrm>
            <a:off x="7162150" y="571450"/>
            <a:ext cx="1809876" cy="3675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3" name="Google Shape;493;p29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29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7" name="Google Shape;49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9"/>
          <p:cNvSpPr/>
          <p:nvPr/>
        </p:nvSpPr>
        <p:spPr>
          <a:xfrm>
            <a:off x="204787" y="147638"/>
            <a:ext cx="401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тигр. Чаты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499" name="Google Shape;49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9"/>
          <p:cNvPicPr preferRelativeResize="0"/>
          <p:nvPr/>
        </p:nvPicPr>
        <p:blipFill rotWithShape="1">
          <a:blip r:embed="rId8">
            <a:alphaModFix/>
          </a:blip>
          <a:srcRect b="6408" l="0" r="0" t="4218"/>
          <a:stretch/>
        </p:blipFill>
        <p:spPr>
          <a:xfrm>
            <a:off x="4572000" y="640875"/>
            <a:ext cx="1809876" cy="359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9"/>
          <p:cNvPicPr preferRelativeResize="0"/>
          <p:nvPr/>
        </p:nvPicPr>
        <p:blipFill rotWithShape="1">
          <a:blip r:embed="rId9">
            <a:alphaModFix/>
          </a:blip>
          <a:srcRect b="6415" l="0" r="0" t="4609"/>
          <a:stretch/>
        </p:blipFill>
        <p:spPr>
          <a:xfrm>
            <a:off x="6721025" y="639025"/>
            <a:ext cx="1809876" cy="357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9"/>
          <p:cNvPicPr preferRelativeResize="0"/>
          <p:nvPr/>
        </p:nvPicPr>
        <p:blipFill rotWithShape="1">
          <a:blip r:embed="rId10">
            <a:alphaModFix/>
          </a:blip>
          <a:srcRect b="4805" l="0" r="0" t="4012"/>
          <a:stretch/>
        </p:blipFill>
        <p:spPr>
          <a:xfrm>
            <a:off x="2466700" y="639013"/>
            <a:ext cx="1766150" cy="357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9"/>
          <p:cNvPicPr preferRelativeResize="0"/>
          <p:nvPr/>
        </p:nvPicPr>
        <p:blipFill rotWithShape="1">
          <a:blip r:embed="rId11">
            <a:alphaModFix/>
          </a:blip>
          <a:srcRect b="4813" l="0" r="0" t="4212"/>
          <a:stretch/>
        </p:blipFill>
        <p:spPr>
          <a:xfrm>
            <a:off x="284395" y="545873"/>
            <a:ext cx="1843155" cy="37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0" name="Google Shape;510;p30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1" name="Google Shape;511;p30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4" name="Google Shape;51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0"/>
          <p:cNvSpPr/>
          <p:nvPr/>
        </p:nvSpPr>
        <p:spPr>
          <a:xfrm>
            <a:off x="204774" y="147650"/>
            <a:ext cx="4367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тигр. Видеозвонок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516" name="Google Shape;51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0"/>
          <p:cNvPicPr preferRelativeResize="0"/>
          <p:nvPr/>
        </p:nvPicPr>
        <p:blipFill rotWithShape="1">
          <a:blip r:embed="rId8">
            <a:alphaModFix/>
          </a:blip>
          <a:srcRect b="5410" l="0" r="0" t="3813"/>
          <a:stretch/>
        </p:blipFill>
        <p:spPr>
          <a:xfrm>
            <a:off x="317675" y="666000"/>
            <a:ext cx="1809876" cy="365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0"/>
          <p:cNvPicPr preferRelativeResize="0"/>
          <p:nvPr/>
        </p:nvPicPr>
        <p:blipFill rotWithShape="1">
          <a:blip r:embed="rId9">
            <a:alphaModFix/>
          </a:blip>
          <a:srcRect b="2961" l="0" r="0" t="6762"/>
          <a:stretch/>
        </p:blipFill>
        <p:spPr>
          <a:xfrm>
            <a:off x="2922050" y="666000"/>
            <a:ext cx="1904299" cy="3835238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0" title="demo.gif"/>
          <p:cNvSpPr/>
          <p:nvPr/>
        </p:nvSpPr>
        <p:spPr>
          <a:xfrm>
            <a:off x="5855575" y="651258"/>
            <a:ext cx="1904301" cy="385516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6" name="Google Shape;526;p31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7" name="Google Shape;527;p31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0" name="Google Shape;5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1"/>
          <p:cNvSpPr/>
          <p:nvPr/>
        </p:nvSpPr>
        <p:spPr>
          <a:xfrm>
            <a:off x="204787" y="147638"/>
            <a:ext cx="401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тигр. Профиль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532" name="Google Shape;53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1"/>
          <p:cNvPicPr preferRelativeResize="0"/>
          <p:nvPr/>
        </p:nvPicPr>
        <p:blipFill rotWithShape="1">
          <a:blip r:embed="rId8">
            <a:alphaModFix/>
          </a:blip>
          <a:srcRect b="4204" l="0" r="0" t="4011"/>
          <a:stretch/>
        </p:blipFill>
        <p:spPr>
          <a:xfrm>
            <a:off x="152125" y="639025"/>
            <a:ext cx="1809876" cy="369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1"/>
          <p:cNvPicPr preferRelativeResize="0"/>
          <p:nvPr/>
        </p:nvPicPr>
        <p:blipFill rotWithShape="1">
          <a:blip r:embed="rId9">
            <a:alphaModFix/>
          </a:blip>
          <a:srcRect b="5244" l="0" r="0" t="3872"/>
          <a:stretch/>
        </p:blipFill>
        <p:spPr>
          <a:xfrm>
            <a:off x="2390325" y="639025"/>
            <a:ext cx="1809876" cy="365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1"/>
          <p:cNvPicPr preferRelativeResize="0"/>
          <p:nvPr/>
        </p:nvPicPr>
        <p:blipFill rotWithShape="1">
          <a:blip r:embed="rId10">
            <a:alphaModFix/>
          </a:blip>
          <a:srcRect b="4623" l="0" r="0" t="3660"/>
          <a:stretch/>
        </p:blipFill>
        <p:spPr>
          <a:xfrm>
            <a:off x="4596850" y="639025"/>
            <a:ext cx="1809876" cy="3688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1"/>
          <p:cNvPicPr preferRelativeResize="0"/>
          <p:nvPr/>
        </p:nvPicPr>
        <p:blipFill rotWithShape="1">
          <a:blip r:embed="rId11">
            <a:alphaModFix/>
          </a:blip>
          <a:srcRect b="5650" l="0" r="0" t="3664"/>
          <a:stretch/>
        </p:blipFill>
        <p:spPr>
          <a:xfrm>
            <a:off x="6803375" y="643187"/>
            <a:ext cx="1809876" cy="3647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3" name="Google Shape;543;p32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4" name="Google Shape;544;p32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7" name="Google Shape;5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/>
          <p:nvPr/>
        </p:nvSpPr>
        <p:spPr>
          <a:xfrm>
            <a:off x="204787" y="147638"/>
            <a:ext cx="401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Текущий тигр. Профиль</a:t>
            </a:r>
            <a:endParaRPr b="0" i="0" sz="2209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549" name="Google Shape;54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/>
          <p:cNvPicPr preferRelativeResize="0"/>
          <p:nvPr/>
        </p:nvPicPr>
        <p:blipFill rotWithShape="1">
          <a:blip r:embed="rId8">
            <a:alphaModFix/>
          </a:blip>
          <a:srcRect b="5235" l="0" r="0" t="3872"/>
          <a:stretch/>
        </p:blipFill>
        <p:spPr>
          <a:xfrm>
            <a:off x="297875" y="639025"/>
            <a:ext cx="1809876" cy="36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/>
          <p:cNvPicPr preferRelativeResize="0"/>
          <p:nvPr/>
        </p:nvPicPr>
        <p:blipFill rotWithShape="1">
          <a:blip r:embed="rId9">
            <a:alphaModFix/>
          </a:blip>
          <a:srcRect b="5241" l="0" r="0" t="4081"/>
          <a:stretch/>
        </p:blipFill>
        <p:spPr>
          <a:xfrm>
            <a:off x="2533325" y="643200"/>
            <a:ext cx="1809876" cy="364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2"/>
          <p:cNvPicPr preferRelativeResize="0"/>
          <p:nvPr/>
        </p:nvPicPr>
        <p:blipFill rotWithShape="1">
          <a:blip r:embed="rId10">
            <a:alphaModFix/>
          </a:blip>
          <a:srcRect b="4620" l="0" r="0" t="4072"/>
          <a:stretch/>
        </p:blipFill>
        <p:spPr>
          <a:xfrm>
            <a:off x="4768763" y="639025"/>
            <a:ext cx="1809876" cy="3672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2"/>
          <p:cNvPicPr preferRelativeResize="0"/>
          <p:nvPr/>
        </p:nvPicPr>
        <p:blipFill rotWithShape="1">
          <a:blip r:embed="rId11">
            <a:alphaModFix/>
          </a:blip>
          <a:srcRect b="4821" l="0" r="0" t="3871"/>
          <a:stretch/>
        </p:blipFill>
        <p:spPr>
          <a:xfrm>
            <a:off x="6992725" y="639025"/>
            <a:ext cx="1809876" cy="3672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0" name="Google Shape;560;p33"/>
          <p:cNvGraphicFramePr/>
          <p:nvPr/>
        </p:nvGraphicFramePr>
        <p:xfrm>
          <a:off x="158850" y="31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{68A260F5-13E0-4719-BC00-99B9BBDD7B3E}</a:tableStyleId>
              </a:tblPr>
              <a:tblGrid>
                <a:gridCol w="1817900"/>
                <a:gridCol w="6640200"/>
              </a:tblGrid>
              <a:tr h="56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Требование ТЗ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Фактическая реализация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93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Обнаружение узлов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Узлы умеют объявлять себя в локальной сети и находить другие доступные peer-узлы поблизости. В интерфейсе можно показать списком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P2P-сессия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Соединение между узлами устанавливается через invite- один узел создаёт приглашение, второй принимает его, после чего между ними появляется доверенное соединение. После pairing узлы переходят в состояние TRUSTED и уже могут использовать чаты, файлы и звонки.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93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Текстовые сообщения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Реализованы личные диалоги, групповые чаты и треды как отдельные ветки обсуждения. Пользователь может открыть conversation, отправить сообщение, посмотреть историю переписки и увидеть подтверждения доставки.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561" name="Google Shape;561;p33"/>
          <p:cNvSpPr txBox="1"/>
          <p:nvPr/>
        </p:nvSpPr>
        <p:spPr>
          <a:xfrm>
            <a:off x="457200" y="457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7" name="Google Shape;567;p34"/>
          <p:cNvGraphicFramePr/>
          <p:nvPr/>
        </p:nvGraphicFramePr>
        <p:xfrm>
          <a:off x="151175" y="5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{68A260F5-13E0-4719-BC00-99B9BBDD7B3E}</a:tableStyleId>
              </a:tblPr>
              <a:tblGrid>
                <a:gridCol w="1817900"/>
                <a:gridCol w="6640200"/>
              </a:tblGrid>
              <a:tr h="56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Требование ТЗ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Фактическая реализация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Мультихоп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Если прямого пути до получателя нет, сообщение может быть доставлено через промежуточные узлы. те можно собрать цепочку из трёх узлов, убрать прямой маршрут и все будет работать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173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Передача файлов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Передача файла построена как отдельный протокол. Сначала идёт предложение передачи, затем подтверждение, потом последовательная отправка чанков с ACK (подтверждение “этот кусоччек я получил”), после чего получатель собирает файл и проверяет итоговый SHA-256. Если части потерялись, можно запросить дозагрузку только пропущенных чанков, но отдельного throttling и параллельной отправки в текущей версии нет.</a:t>
                      </a:r>
                      <a:b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** ето механизм, который не даёт системе отправлять слишком быстро и перегружать сеть или устройство.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" name="Google Shape;573;p3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{AEFE8326-C45B-4907-851C-95F531771635}</a:tableStyleId>
              </a:tblPr>
              <a:tblGrid>
                <a:gridCol w="1395625"/>
                <a:gridCol w="7077850"/>
              </a:tblGrid>
              <a:tr h="36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Требование ТЗ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Фактическая реализация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Real-time коммуникация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Для звонков реализован signaling, а именно приглашение в звонок, обмен служебными сигналами и завершение вызова. На клиентской стороне доступны запуск аудио- и видеозвонков, приём входящего вызова, управление media-состоянием и просмотр live-метрик соединения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Структура сети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Система отслеживает текущее состояние сети: кто выступает хостом, какие маршруты доступны, насколько они стабильны (сейчас не используется relay/fallback-режим.) </a:t>
                      </a:r>
                      <a:b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данные доступны через отдельные API и могут быть показаны в diagnostics.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" name="Google Shape;579;p3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{AEFE8326-C45B-4907-851C-95F531771635}</a:tableStyleId>
              </a:tblPr>
              <a:tblGrid>
                <a:gridCol w="1395625"/>
                <a:gridCol w="7077850"/>
              </a:tblGrid>
              <a:tr h="36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Требование ТЗ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Фактическая реализация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Реакция на разрывы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 потере узла или проблемах с маршрутом система умеет помечать маршрут как недоступный, инвалидировать его и переключаться на нового хоста. Дополнительно отслеживается деградация связности, а после восстановления формируется событие восстановления continuity.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Дедупликация / ACK / ретраи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Каждый пакет несёт служебные поля вроде packetId, messageId, ttl и hopCount, что позволяет отсекать дубликаты и контролировать доставку. Для чатов есть подтверждения доставки, а для недоставленных сообщений работает очередь повторных отправок. в файловом сценарии это дополняется chunk ACK и resume-механизмом.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37"/>
          <p:cNvGraphicFramePr/>
          <p:nvPr/>
        </p:nvGraphicFramePr>
        <p:xfrm>
          <a:off x="344450" y="102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{43F87A92-493A-4783-8B99-F0A5A8C2B8DA}</a:tableStyleId>
              </a:tblPr>
              <a:tblGrid>
                <a:gridCol w="1809700"/>
                <a:gridCol w="6548575"/>
              </a:tblGrid>
              <a:tr h="58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Требование ТЗ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Фактическая реализация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4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Безопасность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 каждого узла есть криптографическая идентичность, а доступ к основным сценариям открывается только после доверенного pairing. Payload шифруется, метаданные подписываются, invite защищён TTL и nonce, а дополнительно есть block list и rate limit для базовой защиты от повторов и спама.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  <a:tr h="14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Диагностика и метрики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системе есть отдельные средства наблюдаемости: журнал событий, технические метрики и показатели media-соединения. Это позволяет на демо показать не только пользовательские функции, но и внутреннее состояние сети и качества связи.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C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1" name="Google Shape;591;p38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2296460" y="-238816"/>
            <a:ext cx="469626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2" name="Google Shape;592;p38"/>
          <p:cNvPicPr preferRelativeResize="0"/>
          <p:nvPr/>
        </p:nvPicPr>
        <p:blipFill rotWithShape="1">
          <a:blip r:embed="rId4">
            <a:alphaModFix/>
          </a:blip>
          <a:srcRect b="15973" l="0" r="9991" t="0"/>
          <a:stretch/>
        </p:blipFill>
        <p:spPr>
          <a:xfrm>
            <a:off x="17087" y="1412392"/>
            <a:ext cx="8228688" cy="2506531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>
              <a:alpha val="8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4" name="Google Shape;594;p38"/>
          <p:cNvSpPr/>
          <p:nvPr/>
        </p:nvSpPr>
        <p:spPr>
          <a:xfrm>
            <a:off x="204788" y="4772025"/>
            <a:ext cx="4167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REM"/>
              <a:buNone/>
            </a:pPr>
            <a:r>
              <a:rPr b="0" i="0" lang="en" sz="641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РАЗРАБОТКИ В СФЕРЕ СВЯЗИ, ИНФОРМАЦИОННЫХ ТЕХНОЛОГИЙ И ИНФОРМАЦИОННОЙ БЕЗОПАСНОСТИ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5" name="Google Shape;5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0314" y="4787787"/>
            <a:ext cx="1809885" cy="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8"/>
          <p:cNvSpPr/>
          <p:nvPr/>
        </p:nvSpPr>
        <p:spPr>
          <a:xfrm>
            <a:off x="840037" y="1936688"/>
            <a:ext cx="4011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9"/>
              <a:buFont typeface="Inter"/>
              <a:buNone/>
            </a:pPr>
            <a:r>
              <a:rPr lang="en" sz="2209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Скачать:</a:t>
            </a:r>
            <a:endParaRPr b="0" i="0" sz="20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preencoded.png" id="597" name="Google Shape;59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800" y="4483050"/>
            <a:ext cx="1688035" cy="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1676" y="4435935"/>
            <a:ext cx="1088514" cy="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8478" y="147653"/>
            <a:ext cx="4167299" cy="416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