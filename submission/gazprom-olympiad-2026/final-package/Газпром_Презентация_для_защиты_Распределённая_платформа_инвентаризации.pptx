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5" r:id="rId26"/>
  </p:sldIdLst>
  <p:sldSz cy="6858000" cx="12192000"/>
  <p:notesSz cx="7104050" cy="102346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Montserrat Medium"/>
      <p:regular r:id="rId39"/>
      <p:bold r:id="rId40"/>
      <p:italic r:id="rId41"/>
      <p:boldItalic r:id="rId42"/>
    </p:embeddedFont>
    <p:embeddedFont>
      <p:font typeface="Tahoma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50">
          <p15:clr>
            <a:srgbClr val="000000"/>
          </p15:clr>
        </p15:guide>
        <p15:guide id="2" pos="273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9BF00C-58DF-4F9B-B63B-135794C49826}">
  <a:tblStyle styleId="{919BF00C-58DF-4F9B-B63B-135794C498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50" orient="horz"/>
        <p:guide pos="273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6" Type="http://schemas.openxmlformats.org/officeDocument/2006/relationships/slide" Target="slides/slide20.xml"/><Relationship Id="rId35" Type="http://schemas.openxmlformats.org/officeDocument/2006/relationships/font" Target="fonts/Montserrat-regular.fntdata"/><Relationship Id="rId36" Type="http://schemas.openxmlformats.org/officeDocument/2006/relationships/font" Target="fonts/Montserrat-bold.fntdata"/><Relationship Id="rId37" Type="http://schemas.openxmlformats.org/officeDocument/2006/relationships/font" Target="fonts/Montserrat-italic.fntdata"/><Relationship Id="rId38" Type="http://schemas.openxmlformats.org/officeDocument/2006/relationships/font" Target="fonts/Montserrat-boldItalic.fntdata"/><Relationship Id="rId39" Type="http://schemas.openxmlformats.org/officeDocument/2006/relationships/font" Target="fonts/MontserratMedium-regular.fntdata"/><Relationship Id="rId40" Type="http://schemas.openxmlformats.org/officeDocument/2006/relationships/font" Target="fonts/MontserratMedium-bold.fntdata"/><Relationship Id="rId41" Type="http://schemas.openxmlformats.org/officeDocument/2006/relationships/font" Target="fonts/MontserratMedium-italic.fntdata"/><Relationship Id="rId42" Type="http://schemas.openxmlformats.org/officeDocument/2006/relationships/font" Target="fonts/MontserratMedium-boldItalic.fntdata"/><Relationship Id="rId43" Type="http://schemas.openxmlformats.org/officeDocument/2006/relationships/font" Target="fonts/Tahoma-regular.fntdata"/><Relationship Id="rId44" Type="http://schemas.openxmlformats.org/officeDocument/2006/relationships/font" Target="fonts/Tahoma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f98ef784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f98ef784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cf98ef784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98ef784e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cf98ef784e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cf98ef784e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_Титульный слайд 1">
  <p:cSld name="eng_Титульный слайд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695" y="291147"/>
            <a:ext cx="3253755" cy="225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9426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idx="1" type="body"/>
          </p:nvPr>
        </p:nvSpPr>
        <p:spPr>
          <a:xfrm>
            <a:off x="560195" y="6083857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None/>
              <a:defRPr sz="1867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2" type="body"/>
          </p:nvPr>
        </p:nvSpPr>
        <p:spPr>
          <a:xfrm>
            <a:off x="560195" y="2567226"/>
            <a:ext cx="2694755" cy="4385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None/>
              <a:defRPr sz="2400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3" type="body"/>
          </p:nvPr>
        </p:nvSpPr>
        <p:spPr>
          <a:xfrm>
            <a:off x="560196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700"/>
              <a:buNone/>
              <a:defRPr b="1" sz="3600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белая)">
  <p:cSld name="Шапка с логотипом без коня (белая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40680" l="86780" r="-4361" t="32381"/>
          <a:stretch/>
        </p:blipFill>
        <p:spPr>
          <a:xfrm>
            <a:off x="0" y="1269808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b="88431" l="61576" r="20843" t="1513"/>
          <a:stretch/>
        </p:blipFill>
        <p:spPr>
          <a:xfrm>
            <a:off x="0" y="6296026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31852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type="title"/>
          </p:nvPr>
        </p:nvSpPr>
        <p:spPr>
          <a:xfrm>
            <a:off x="559572" y="380885"/>
            <a:ext cx="9199891" cy="479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  <a:defRPr b="1" sz="2667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5139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>
            <p:ph idx="1" type="body"/>
          </p:nvPr>
        </p:nvSpPr>
        <p:spPr>
          <a:xfrm>
            <a:off x="-2009457" y="1613180"/>
            <a:ext cx="1348447" cy="315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200"/>
              <a:buNone/>
              <a:defRPr b="1" sz="1600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222A3F"/>
              </a:buClr>
              <a:buSzPts val="1100"/>
              <a:buChar char="•"/>
              <a:defRPr b="0" sz="1467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2" type="body"/>
          </p:nvPr>
        </p:nvSpPr>
        <p:spPr>
          <a:xfrm>
            <a:off x="-2009458" y="2292921"/>
            <a:ext cx="1649811" cy="2949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100"/>
              <a:buNone/>
              <a:defRPr sz="1467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29" name="Google Shape;29;p3"/>
          <p:cNvCxnSpPr/>
          <p:nvPr/>
        </p:nvCxnSpPr>
        <p:spPr>
          <a:xfrm>
            <a:off x="0" y="6283103"/>
            <a:ext cx="12192000" cy="0"/>
          </a:xfrm>
          <a:prstGeom prst="straightConnector1">
            <a:avLst/>
          </a:prstGeom>
          <a:noFill/>
          <a:ln cap="flat" cmpd="sng" w="1587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588165" y="4030460"/>
            <a:ext cx="108000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1500"/>
              <a:buNone/>
            </a:pPr>
            <a:r>
              <a:rPr sz="2400" b="0">
                <a:solidFill>
                  <a:srgbClr val="788492"/>
                </a:solidFill>
              </a:rPr>
              <a:t>Титарь Игорь Андреевич</a:t>
            </a:r>
            <a:endParaRPr sz="2000">
              <a:solidFill>
                <a:srgbClr val="0055B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4"/>
          <p:cNvSpPr txBox="1"/>
          <p:nvPr>
            <p:ph idx="3" type="body"/>
          </p:nvPr>
        </p:nvSpPr>
        <p:spPr>
          <a:xfrm>
            <a:off x="560195" y="2397950"/>
            <a:ext cx="10800000" cy="3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sz="2200" b="0">
                <a:solidFill>
                  <a:srgbClr val="0D5DB8"/>
                </a:solidFill>
              </a:rPr>
              <a:t>Защита проекта для олимпиады «Газпром»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88165" y="4654107"/>
            <a:ext cx="10800000" cy="318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7323D"/>
                </a:solidFill>
              </a:rPr>
              <a:t>НИЯУ МИФИ, ИИКС, кафедра №22</a:t>
            </a:r>
            <a:endParaRPr b="0" i="0" sz="146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49467" y="2875000"/>
            <a:ext cx="1177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>
                <a:solidFill>
                  <a:srgbClr val="0D5DB8"/>
                </a:solidFill>
              </a:rPr>
              <a:t>Распределённая платформа</a:t>
            </a:r>
            <a:endParaRPr b="0" i="0" sz="146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algn="l"/>
            <a:r>
              <a:rPr sz="3600" b="0">
                <a:solidFill>
                  <a:srgbClr val="0D5DB8"/>
                </a:solidFill>
              </a:rPr>
              <a:t>инвентаризации</a:t>
            </a:r>
          </a:p>
        </p:txBody>
      </p:sp>
      <p:sp>
        <p:nvSpPr>
          <p:cNvPr id="96" name="Google Shape;96;p14"/>
          <p:cNvSpPr txBox="1"/>
          <p:nvPr/>
        </p:nvSpPr>
        <p:spPr>
          <a:xfrm>
            <a:off x="588165" y="6127146"/>
            <a:ext cx="10800000" cy="318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27323D"/>
                </a:solidFill>
              </a:rPr>
              <a:t>15 апреля 2026 г.</a:t>
            </a:r>
            <a:endParaRPr b="0" i="0" sz="146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88165" y="4993913"/>
            <a:ext cx="108000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7323D"/>
                </a:solidFill>
              </a:rPr>
              <a:t>Автор проекта | tigor7750@gmail.com | @ITehn</a:t>
            </a:r>
            <a:endParaRPr b="0" i="0" sz="1467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59572" y="369350"/>
            <a:ext cx="9199891" cy="502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Общая информация о проекте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33399" y="1357341"/>
            <a:ext cx="11052000" cy="2740607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Проект представляет собой распределённую платформу инвентаризации, обмена данными и оперативного взаимодействия для удалённых площадок. Система объединяет карточки имущества, инвентаризационные проверки, маркировку, локальный mesh-контур и встроенные коммуникации. Цель проекта — сохранить работоспособность учёта и взаимодействия сотрудников при устойчивой связи, её деградации и полном отсутствии централизованного интернета.</a:t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3399" y="4663407"/>
            <a:ext cx="11052000" cy="907200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Текущая стадия — функциональный прототип. Подтверждены desktop- и Android-клиенты, inventory-контур, поздняя синхронизация, API и профильные тесты сервисов.</a:t>
            </a:r>
            <a:endParaRPr b="0" i="0" sz="2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33400" y="4306600"/>
            <a:ext cx="83160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Что представляет собой решение</a:t>
            </a:r>
            <a:endParaRPr b="1" i="0" sz="2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33400" y="970806"/>
            <a:ext cx="8200387" cy="379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Что уже подтверждено</a:t>
            </a:r>
            <a:endParaRPr b="1" i="0" sz="20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327629" y="5741301"/>
            <a:ext cx="1547600" cy="396000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Концепт</a:t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578759" y="5741301"/>
            <a:ext cx="1881827" cy="396000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Отрасл.</a:t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t>пилот</a:t>
            </a:r>
          </a:p>
        </p:txBody>
      </p:sp>
      <p:sp>
        <p:nvSpPr>
          <p:cNvPr id="110" name="Google Shape;110;p15"/>
          <p:cNvSpPr txBox="1"/>
          <p:nvPr/>
        </p:nvSpPr>
        <p:spPr>
          <a:xfrm>
            <a:off x="5916092" y="5741301"/>
            <a:ext cx="1416145" cy="396000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Локал.</a:t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t>пилот</a:t>
            </a:r>
          </a:p>
        </p:txBody>
      </p:sp>
      <p:sp>
        <p:nvSpPr>
          <p:cNvPr id="111" name="Google Shape;111;p15"/>
          <p:cNvSpPr txBox="1"/>
          <p:nvPr/>
        </p:nvSpPr>
        <p:spPr>
          <a:xfrm>
            <a:off x="9707111" y="5741301"/>
            <a:ext cx="1881827" cy="396000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Внедрение</a:t>
            </a:r>
            <a:endParaRPr b="0" i="0" sz="14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33401" y="5741301"/>
            <a:ext cx="1547705" cy="396000"/>
          </a:xfrm>
          <a:prstGeom prst="rect">
            <a:avLst/>
          </a:prstGeom>
          <a:noFill/>
          <a:ln cap="flat" cmpd="sng" w="9525">
            <a:solidFill>
              <a:srgbClr val="005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Идея</a:t>
            </a:r>
            <a:endParaRPr b="0" i="0" sz="12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4121861" y="5741301"/>
            <a:ext cx="1547705" cy="396000"/>
          </a:xfrm>
          <a:prstGeom prst="rect">
            <a:avLst/>
          </a:prstGeom>
          <a:solidFill>
            <a:srgbClr val="C4E0B2"/>
          </a:solidFill>
          <a:ln cap="flat" cmpd="sng" w="9525">
            <a:solidFill>
              <a:srgbClr val="0055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Прототип</a:t>
            </a:r>
            <a:endParaRPr b="0" i="0" sz="12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559572" y="369350"/>
            <a:ext cx="9199891" cy="502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Ограничения среды и сценарии использования</a:t>
            </a:r>
            <a:endParaRPr/>
          </a:p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438912" y="1508760"/>
            <a:ext cx="598932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88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800" b="0">
                <a:solidFill>
                  <a:srgbClr val="27323D"/>
                </a:solidFill>
              </a:rPr>
              <a:t>удалённые объекты и территориально</a:t>
            </a:r>
          </a:p>
          <a:p>
            <a:pPr algn="l"/>
            <a:r>
              <a:rPr sz="1800" b="0">
                <a:solidFill>
                  <a:srgbClr val="27323D"/>
                </a:solidFill>
              </a:rPr>
              <a:t>распределённые площадки;</a:t>
            </a:r>
          </a:p>
          <a:p>
            <a:pPr algn="l"/>
          </a:p>
          <a:p>
            <a:pPr algn="l"/>
            <a:r>
              <a:rPr sz="1800" b="0">
                <a:solidFill>
                  <a:srgbClr val="27323D"/>
                </a:solidFill>
              </a:rPr>
              <a:t>нестабильная или отсутствующая связь с</a:t>
            </a:r>
          </a:p>
          <a:p>
            <a:pPr algn="l"/>
            <a:r>
              <a:rPr sz="1800" b="0">
                <a:solidFill>
                  <a:srgbClr val="27323D"/>
                </a:solidFill>
              </a:rPr>
              <a:t>центральным контуром;</a:t>
            </a:r>
          </a:p>
          <a:p>
            <a:pPr algn="l"/>
          </a:p>
          <a:p>
            <a:pPr algn="l"/>
            <a:r>
              <a:rPr sz="1800" b="0">
                <a:solidFill>
                  <a:srgbClr val="27323D"/>
                </a:solidFill>
              </a:rPr>
              <a:t>необходимость продолжать учёт и</a:t>
            </a:r>
          </a:p>
          <a:p>
            <a:pPr algn="l"/>
            <a:r>
              <a:rPr sz="1800" b="0">
                <a:solidFill>
                  <a:srgbClr val="27323D"/>
                </a:solidFill>
              </a:rPr>
              <a:t>взаимодействие без внешнего канала;</a:t>
            </a:r>
          </a:p>
          <a:p>
            <a:pPr algn="l"/>
          </a:p>
          <a:p>
            <a:pPr algn="l"/>
            <a:r>
              <a:rPr sz="1800" b="0">
                <a:solidFill>
                  <a:srgbClr val="27323D"/>
                </a:solidFill>
              </a:rPr>
              <a:t>последующая консолидация данных после</a:t>
            </a:r>
          </a:p>
          <a:p>
            <a:pPr algn="l"/>
            <a:r>
              <a:rPr sz="1800" b="0">
                <a:solidFill>
                  <a:srgbClr val="27323D"/>
                </a:solidFill>
              </a:rPr>
              <a:t>восстановления связи;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21424" y="1444752"/>
            <a:ext cx="379476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0D5DB8"/>
                </a:solidFill>
              </a:rPr>
              <a:t>Разрозненный процесс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21424" y="1700784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788492"/>
                </a:solidFill>
              </a:rPr>
              <a:t>Учёт, обсуждения и материалы живут в разных инструментах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059168" y="2103120"/>
            <a:ext cx="1051560" cy="4389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0D5DB8"/>
                </a:solidFill>
              </a:rPr>
              <a:t>Центральная</a:t>
            </a:r>
          </a:p>
          <a:p>
            <a:pPr algn="ctr"/>
            <a:r>
              <a:rPr sz="1100" b="1">
                <a:solidFill>
                  <a:srgbClr val="0D5DB8"/>
                </a:solidFill>
              </a:rPr>
              <a:t>учётная</a:t>
            </a:r>
          </a:p>
          <a:p>
            <a:pPr algn="ctr"/>
            <a:r>
              <a:rPr sz="1100" b="1">
                <a:solidFill>
                  <a:srgbClr val="0D5DB8"/>
                </a:solidFill>
              </a:rPr>
              <a:t>система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229600" y="1874519"/>
            <a:ext cx="13258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>
                <a:solidFill>
                  <a:srgbClr val="27323D"/>
                </a:solidFill>
              </a:rPr>
              <a:t>Excel и</a:t>
            </a:r>
          </a:p>
          <a:p>
            <a:pPr algn="ctr"/>
            <a:r>
              <a:rPr sz="1000" b="1">
                <a:solidFill>
                  <a:srgbClr val="27323D"/>
                </a:solidFill>
              </a:rPr>
              <a:t>локальные</a:t>
            </a:r>
          </a:p>
          <a:p>
            <a:pPr algn="ctr"/>
            <a:r>
              <a:rPr sz="1000" b="1">
                <a:solidFill>
                  <a:srgbClr val="27323D"/>
                </a:solidFill>
              </a:rPr>
              <a:t>таблицы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229600" y="2331720"/>
            <a:ext cx="13258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>
                <a:solidFill>
                  <a:srgbClr val="27323D"/>
                </a:solidFill>
              </a:rPr>
              <a:t>Бумажные</a:t>
            </a:r>
          </a:p>
          <a:p>
            <a:pPr algn="ctr"/>
            <a:r>
              <a:rPr sz="1000" b="1">
                <a:solidFill>
                  <a:srgbClr val="27323D"/>
                </a:solidFill>
              </a:rPr>
              <a:t>формы и</a:t>
            </a:r>
          </a:p>
          <a:p>
            <a:pPr algn="ctr"/>
            <a:r>
              <a:rPr sz="1000" b="1">
                <a:solidFill>
                  <a:srgbClr val="27323D"/>
                </a:solidFill>
              </a:rPr>
              <a:t>акты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229600" y="2788920"/>
            <a:ext cx="13258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>
                <a:solidFill>
                  <a:srgbClr val="27323D"/>
                </a:solidFill>
              </a:rPr>
              <a:t>Сторонний</a:t>
            </a:r>
          </a:p>
          <a:p>
            <a:pPr algn="ctr"/>
            <a:r>
              <a:rPr sz="1000" b="1">
                <a:solidFill>
                  <a:srgbClr val="27323D"/>
                </a:solidFill>
              </a:rPr>
              <a:t>мессенджер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829800" y="2103120"/>
            <a:ext cx="1691640" cy="621792"/>
          </a:xfrm>
          <a:prstGeom prst="roundRect">
            <a:avLst/>
          </a:prstGeom>
          <a:solidFill>
            <a:srgbClr val="E4F4F1"/>
          </a:solidFill>
          <a:ln w="15875"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0B7A6F"/>
                </a:solidFill>
              </a:rPr>
              <a:t>Комиссия на</a:t>
            </a:r>
          </a:p>
          <a:p>
            <a:pPr algn="ctr"/>
            <a:r>
              <a:rPr sz="1100" b="1">
                <a:solidFill>
                  <a:srgbClr val="0B7A6F"/>
                </a:solidFill>
              </a:rPr>
              <a:t>удалённой</a:t>
            </a:r>
          </a:p>
          <a:p>
            <a:pPr algn="ctr"/>
            <a:r>
              <a:rPr sz="1100" b="1">
                <a:solidFill>
                  <a:srgbClr val="0B7A6F"/>
                </a:solidFill>
              </a:rPr>
              <a:t>площадке</a:t>
            </a:r>
          </a:p>
        </p:txBody>
      </p:sp>
      <p:cxnSp>
        <p:nvCxnSpPr>
          <p:cNvPr id="134" name="Connector 133"/>
          <p:cNvCxnSpPr/>
          <p:nvPr/>
        </p:nvCxnSpPr>
        <p:spPr>
          <a:xfrm flipV="1">
            <a:off x="8110727" y="2057400"/>
            <a:ext cx="118873" cy="27432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Isosceles Triangle 134"/>
          <p:cNvSpPr/>
          <p:nvPr/>
        </p:nvSpPr>
        <p:spPr>
          <a:xfrm>
            <a:off x="8174736" y="2057400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8110727" y="2331720"/>
            <a:ext cx="118873" cy="18288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10800000">
            <a:off x="8174736" y="2404872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110727" y="2331720"/>
            <a:ext cx="118873" cy="64008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 rot="10800000">
            <a:off x="8174736" y="2862072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9555480" y="2057400"/>
            <a:ext cx="274320" cy="338328"/>
          </a:xfrm>
          <a:prstGeom prst="line">
            <a:avLst/>
          </a:prstGeom>
          <a:ln w="19050">
            <a:solidFill>
              <a:srgbClr val="7884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/>
          <p:cNvSpPr/>
          <p:nvPr/>
        </p:nvSpPr>
        <p:spPr>
          <a:xfrm rot="10800000">
            <a:off x="9774936" y="2286000"/>
            <a:ext cx="109728" cy="109728"/>
          </a:xfrm>
          <a:prstGeom prst="triangle">
            <a:avLst/>
          </a:prstGeom>
          <a:solidFill>
            <a:srgbClr val="788492"/>
          </a:solidFill>
          <a:ln>
            <a:solidFill>
              <a:srgbClr val="788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 flipV="1">
            <a:off x="9555480" y="2414016"/>
            <a:ext cx="274320" cy="100584"/>
          </a:xfrm>
          <a:prstGeom prst="line">
            <a:avLst/>
          </a:prstGeom>
          <a:ln w="19050">
            <a:solidFill>
              <a:srgbClr val="7884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sosceles Triangle 142"/>
          <p:cNvSpPr/>
          <p:nvPr/>
        </p:nvSpPr>
        <p:spPr>
          <a:xfrm rot="5400000">
            <a:off x="9720072" y="2359152"/>
            <a:ext cx="109728" cy="109728"/>
          </a:xfrm>
          <a:prstGeom prst="triangle">
            <a:avLst/>
          </a:prstGeom>
          <a:solidFill>
            <a:srgbClr val="788492"/>
          </a:solidFill>
          <a:ln>
            <a:solidFill>
              <a:srgbClr val="788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 flipV="1">
            <a:off x="9555480" y="2432304"/>
            <a:ext cx="274320" cy="539496"/>
          </a:xfrm>
          <a:prstGeom prst="line">
            <a:avLst/>
          </a:prstGeom>
          <a:ln w="19050">
            <a:solidFill>
              <a:srgbClr val="7884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Isosceles Triangle 144"/>
          <p:cNvSpPr/>
          <p:nvPr/>
        </p:nvSpPr>
        <p:spPr>
          <a:xfrm>
            <a:off x="9774936" y="2432304"/>
            <a:ext cx="109728" cy="109728"/>
          </a:xfrm>
          <a:prstGeom prst="triangle">
            <a:avLst/>
          </a:prstGeom>
          <a:solidFill>
            <a:srgbClr val="788492"/>
          </a:solidFill>
          <a:ln>
            <a:solidFill>
              <a:srgbClr val="788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732520" y="3035808"/>
            <a:ext cx="2423160" cy="7315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7323D"/>
                </a:solidFill>
              </a:rPr>
              <a:t>Итог: данные, материалы и</a:t>
            </a:r>
          </a:p>
          <a:p>
            <a:pPr algn="l"/>
            <a:r>
              <a:rPr sz="1000" b="0">
                <a:solidFill>
                  <a:srgbClr val="27323D"/>
                </a:solidFill>
              </a:rPr>
              <a:t>обсуждения расходятся, а при</a:t>
            </a:r>
          </a:p>
          <a:p>
            <a:pPr algn="l"/>
            <a:r>
              <a:rPr sz="1000" b="0">
                <a:solidFill>
                  <a:srgbClr val="27323D"/>
                </a:solidFill>
              </a:rPr>
              <a:t>потере связи часть процесса</a:t>
            </a:r>
          </a:p>
          <a:p>
            <a:pPr algn="l"/>
            <a:r>
              <a:rPr sz="1000" b="0">
                <a:solidFill>
                  <a:srgbClr val="27323D"/>
                </a:solidFill>
              </a:rPr>
              <a:t>уходит в ручной режим.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type="title"/>
          </p:nvPr>
        </p:nvSpPr>
        <p:spPr>
          <a:xfrm>
            <a:off x="559572" y="374529"/>
            <a:ext cx="9200000" cy="502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Обзор решения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 sz="15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292608" y="1207008"/>
            <a:ext cx="7205472" cy="4425696"/>
          </a:xfrm>
          <a:prstGeom prst="rect">
            <a:avLst/>
          </a:prstGeom>
          <a:noFill/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66928" y="1426464"/>
            <a:ext cx="4023360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D5DB8"/>
                </a:solidFill>
              </a:rPr>
              <a:t>Единый рабочий контур проекта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66928" y="1682496"/>
            <a:ext cx="47548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788492"/>
                </a:solidFill>
              </a:rPr>
              <a:t>Инвентаризация и взаимодействие сотрудников объединены в одной платформе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49808" y="2231136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Локальные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узлы и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автономная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работа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49808" y="3200400"/>
            <a:ext cx="1417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Маркировка,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QR и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штрихкоды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542032" y="1883664"/>
            <a:ext cx="2084831" cy="1993392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706624" y="2084831"/>
            <a:ext cx="1755648" cy="43891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Распределённая</a:t>
            </a:r>
          </a:p>
          <a:p>
            <a:pPr algn="ctr"/>
            <a:r>
              <a:rPr sz="1700" b="1">
                <a:solidFill>
                  <a:srgbClr val="0D5DB8"/>
                </a:solidFill>
              </a:rPr>
              <a:t>платформа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871216" y="2907792"/>
            <a:ext cx="1426464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>
                <a:solidFill>
                  <a:srgbClr val="27323D"/>
                </a:solidFill>
              </a:rPr>
              <a:t>Карточки имущества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871216" y="3419856"/>
            <a:ext cx="1426464" cy="4023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>
                <a:solidFill>
                  <a:srgbClr val="27323D"/>
                </a:solidFill>
              </a:rPr>
              <a:t>Сессии и проверки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376672" y="2231136"/>
            <a:ext cx="1417320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Чаты,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файлы,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обсуждения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и звонки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376672" y="3200400"/>
            <a:ext cx="14173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Central sync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и обмен</a:t>
            </a:r>
          </a:p>
          <a:p>
            <a:pPr algn="ctr"/>
            <a:r>
              <a:rPr sz="1200" b="1">
                <a:solidFill>
                  <a:srgbClr val="27323D"/>
                </a:solidFill>
              </a:rPr>
              <a:t>при связи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2167128" y="2560320"/>
            <a:ext cx="374904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sosceles Triangle 146"/>
          <p:cNvSpPr/>
          <p:nvPr/>
        </p:nvSpPr>
        <p:spPr>
          <a:xfrm rot="5400000">
            <a:off x="2432303" y="2505456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2167128" y="3483864"/>
            <a:ext cx="374904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Isosceles Triangle 148"/>
          <p:cNvSpPr/>
          <p:nvPr/>
        </p:nvSpPr>
        <p:spPr>
          <a:xfrm rot="5400000">
            <a:off x="2432303" y="3429000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626864" y="2560320"/>
            <a:ext cx="749808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sosceles Triangle 150"/>
          <p:cNvSpPr/>
          <p:nvPr/>
        </p:nvSpPr>
        <p:spPr>
          <a:xfrm rot="5400000">
            <a:off x="5266944" y="2505456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4626864" y="3483864"/>
            <a:ext cx="749808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sosceles Triangle 152"/>
          <p:cNvSpPr/>
          <p:nvPr/>
        </p:nvSpPr>
        <p:spPr>
          <a:xfrm rot="5400000">
            <a:off x="5266944" y="3429000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790688" y="1691640"/>
            <a:ext cx="3108960" cy="2834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0">
                <a:solidFill>
                  <a:srgbClr val="27323D"/>
                </a:solidFill>
              </a:rPr>
              <a:t>edge-узел объединяет inventory,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локальную БД и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mesh-коммуникации;</a:t>
            </a:r>
          </a:p>
          <a:p>
            <a:pPr algn="l"/>
          </a:p>
          <a:p>
            <a:pPr algn="l"/>
            <a:r>
              <a:rPr sz="1600" b="0">
                <a:solidFill>
                  <a:srgbClr val="27323D"/>
                </a:solidFill>
              </a:rPr>
              <a:t>central-контур нужен для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консолидации и работы с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каноническими данными;</a:t>
            </a:r>
          </a:p>
          <a:p>
            <a:pPr algn="l"/>
          </a:p>
          <a:p>
            <a:pPr algn="l"/>
            <a:r>
              <a:rPr sz="1600" b="0">
                <a:solidFill>
                  <a:srgbClr val="27323D"/>
                </a:solidFill>
              </a:rPr>
              <a:t>локальные операции не ждут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доступности центральной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системы;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818120" y="5010912"/>
            <a:ext cx="3657600" cy="749808"/>
          </a:xfrm>
          <a:prstGeom prst="roundRect">
            <a:avLst/>
          </a:prstGeom>
          <a:solidFill>
            <a:srgbClr val="DBE9FA"/>
          </a:solidFill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028431" y="5084064"/>
            <a:ext cx="3236976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D5DB8"/>
                </a:solidFill>
              </a:rPr>
              <a:t>Ключевая идея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028431" y="5321808"/>
            <a:ext cx="3236976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27323D"/>
                </a:solidFill>
              </a:rPr>
              <a:t>Одна платформа для учёта,</a:t>
            </a:r>
          </a:p>
          <a:p>
            <a:pPr algn="ctr"/>
            <a:r>
              <a:rPr sz="1200" b="0">
                <a:solidFill>
                  <a:srgbClr val="27323D"/>
                </a:solidFill>
              </a:rPr>
              <a:t>коммуникаций и синхронизации.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559572" y="374529"/>
            <a:ext cx="920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Как система работает с интернетом и без него</a:t>
            </a:r>
            <a:endParaRPr/>
          </a:p>
        </p:txBody>
      </p:sp>
      <p:sp>
        <p:nvSpPr>
          <p:cNvPr id="145" name="Google Shape;145;p1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329184" y="1325880"/>
            <a:ext cx="7242048" cy="4434840"/>
          </a:xfrm>
          <a:prstGeom prst="rect">
            <a:avLst/>
          </a:prstGeom>
          <a:noFill/>
          <a:ln w="12700">
            <a:solidFill>
              <a:srgbClr val="788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0080" y="1536192"/>
            <a:ext cx="34747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0D5DB8"/>
                </a:solidFill>
              </a:rPr>
              <a:t>Два рабочих режима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0080" y="1792224"/>
            <a:ext cx="46634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788492"/>
                </a:solidFill>
              </a:rPr>
              <a:t>Отсутствие внешнего канала не останавливает учёт, проверку и взаимодействие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49808" y="1965960"/>
            <a:ext cx="2697480" cy="2304288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4151376" y="1965960"/>
            <a:ext cx="2697480" cy="2304288"/>
          </a:xfrm>
          <a:prstGeom prst="roundRect">
            <a:avLst/>
          </a:prstGeom>
          <a:solidFill>
            <a:srgbClr val="E4F4F1"/>
          </a:solidFill>
          <a:ln w="15875"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97280" y="2121408"/>
            <a:ext cx="20116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D5DB8"/>
                </a:solidFill>
              </a:rPr>
              <a:t>Online-режим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535424" y="2121408"/>
            <a:ext cx="19202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B7A6F"/>
                </a:solidFill>
              </a:rPr>
              <a:t>Offline-режим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60120" y="252374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локальная работа пользователя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60120" y="284378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доступ к карточкам и сессиям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60120" y="316382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обсуждения, файлы и звонки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960120" y="3483863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синхронизация с центральным</a:t>
            </a:r>
          </a:p>
          <a:p>
            <a:pPr algn="ctr"/>
            <a:r>
              <a:rPr sz="900" b="1">
                <a:solidFill>
                  <a:srgbClr val="27323D"/>
                </a:solidFill>
              </a:rPr>
              <a:t>контуром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60120" y="380390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консолидация и обновление данных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361688" y="252374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локальная автономная работа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4361688" y="284378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взаимодействие между соседними</a:t>
            </a:r>
          </a:p>
          <a:p>
            <a:pPr algn="ctr"/>
            <a:r>
              <a:rPr sz="900" b="1">
                <a:solidFill>
                  <a:srgbClr val="27323D"/>
                </a:solidFill>
              </a:rPr>
              <a:t>узлами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4361688" y="316382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фиксация результатов и материалов</a:t>
            </a:r>
          </a:p>
          <a:p>
            <a:pPr algn="ctr"/>
            <a:r>
              <a:rPr sz="900" b="1">
                <a:solidFill>
                  <a:srgbClr val="27323D"/>
                </a:solidFill>
              </a:rPr>
              <a:t>на месте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361688" y="3483863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накопление изменений в очереди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361688" y="3803904"/>
            <a:ext cx="2267712" cy="2377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900" b="1">
                <a:solidFill>
                  <a:srgbClr val="27323D"/>
                </a:solidFill>
              </a:rPr>
              <a:t>поздняя синхронизация после</a:t>
            </a:r>
          </a:p>
          <a:p>
            <a:pPr algn="ctr"/>
            <a:r>
              <a:rPr sz="900" b="1">
                <a:solidFill>
                  <a:srgbClr val="27323D"/>
                </a:solidFill>
              </a:rPr>
              <a:t>восстановления связи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818120" y="1874519"/>
            <a:ext cx="3063240" cy="2926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0">
                <a:solidFill>
                  <a:srgbClr val="27323D"/>
                </a:solidFill>
              </a:rPr>
              <a:t>при наличии связи изменения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уходят в central sync;</a:t>
            </a:r>
          </a:p>
          <a:p>
            <a:pPr algn="l"/>
          </a:p>
          <a:p>
            <a:pPr algn="l"/>
            <a:r>
              <a:rPr sz="1600" b="0">
                <a:solidFill>
                  <a:srgbClr val="27323D"/>
                </a:solidFill>
              </a:rPr>
              <a:t>при потере внешнего канала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комиссия продолжает работу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локально;</a:t>
            </a:r>
          </a:p>
          <a:p>
            <a:pPr algn="l"/>
          </a:p>
          <a:p>
            <a:pPr algn="l"/>
            <a:r>
              <a:rPr sz="1600" b="0">
                <a:solidFill>
                  <a:srgbClr val="27323D"/>
                </a:solidFill>
              </a:rPr>
              <a:t>после восстановления связи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накопленные данные</a:t>
            </a:r>
          </a:p>
          <a:p>
            <a:pPr algn="l"/>
            <a:r>
              <a:rPr sz="1600" b="0">
                <a:solidFill>
                  <a:srgbClr val="27323D"/>
                </a:solidFill>
              </a:rPr>
              <a:t>консолидируются автоматически;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559572" y="374529"/>
            <a:ext cx="9200000" cy="502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Инвентаризационный сценарий на удалённом</a:t>
            </a:r>
            <a:endParaRPr/>
          </a:p>
          <a:p>
            <a:pPr algn="l"/>
            <a:r>
              <a:rPr sz="2400" b="1">
                <a:solidFill>
                  <a:srgbClr val="0D5DB8"/>
                </a:solidFill>
              </a:rPr>
              <a:t>объекте</a:t>
            </a:r>
          </a:p>
        </p:txBody>
      </p:sp>
      <p:sp>
        <p:nvSpPr>
          <p:cNvPr id="156" name="Google Shape;156;p19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384048" y="1609344"/>
            <a:ext cx="6967728" cy="4169663"/>
          </a:xfrm>
          <a:prstGeom prst="rect">
            <a:avLst/>
          </a:prstGeom>
          <a:noFill/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58368" y="1810512"/>
            <a:ext cx="329184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D5DB8"/>
                </a:solidFill>
              </a:rPr>
              <a:t>Сценарий работы комиссии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58368" y="2048256"/>
            <a:ext cx="384048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788492"/>
                </a:solidFill>
              </a:rPr>
              <a:t>От подготовки сессии до последующей синхронизации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1248" y="2395728"/>
            <a:ext cx="5449824" cy="384048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300" b="1">
                <a:solidFill>
                  <a:srgbClr val="0D5DB8"/>
                </a:solidFill>
              </a:rPr>
              <a:t>1. Подготовка сессии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3566160" y="2779776"/>
            <a:ext cx="0" cy="109728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Isosceles Triangle 161"/>
          <p:cNvSpPr/>
          <p:nvPr/>
        </p:nvSpPr>
        <p:spPr>
          <a:xfrm rot="10800000">
            <a:off x="3511296" y="2779776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841248" y="2907792"/>
            <a:ext cx="5449824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300" b="1">
                <a:solidFill>
                  <a:srgbClr val="27323D"/>
                </a:solidFill>
              </a:rPr>
              <a:t>2. Выезд на объект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3566160" y="3291840"/>
            <a:ext cx="0" cy="109728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Isosceles Triangle 164"/>
          <p:cNvSpPr/>
          <p:nvPr/>
        </p:nvSpPr>
        <p:spPr>
          <a:xfrm rot="10800000">
            <a:off x="3511296" y="3291840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841248" y="3419856"/>
            <a:ext cx="5449824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300" b="1">
                <a:solidFill>
                  <a:srgbClr val="27323D"/>
                </a:solidFill>
              </a:rPr>
              <a:t>3. Сканирование и открытие карточки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3566160" y="3803904"/>
            <a:ext cx="0" cy="109728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Isosceles Triangle 167"/>
          <p:cNvSpPr/>
          <p:nvPr/>
        </p:nvSpPr>
        <p:spPr>
          <a:xfrm rot="10800000">
            <a:off x="3511296" y="3803904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41248" y="3931920"/>
            <a:ext cx="5449824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300" b="1">
                <a:solidFill>
                  <a:srgbClr val="27323D"/>
                </a:solidFill>
              </a:rPr>
              <a:t>4. Проверка состояния и фиксация расхождений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3566160" y="4315968"/>
            <a:ext cx="0" cy="109728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Isosceles Triangle 170"/>
          <p:cNvSpPr/>
          <p:nvPr/>
        </p:nvSpPr>
        <p:spPr>
          <a:xfrm rot="10800000">
            <a:off x="3511296" y="4315968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841248" y="4443984"/>
            <a:ext cx="5449824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300" b="1">
                <a:solidFill>
                  <a:srgbClr val="27323D"/>
                </a:solidFill>
              </a:rPr>
              <a:t>5. Фото, документы и комментарии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3566160" y="4828032"/>
            <a:ext cx="0" cy="109728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/>
          <p:cNvSpPr/>
          <p:nvPr/>
        </p:nvSpPr>
        <p:spPr>
          <a:xfrm rot="10800000">
            <a:off x="3511296" y="4828032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841248" y="4956048"/>
            <a:ext cx="5449824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l"/>
            <a:r>
              <a:rPr sz="1300" b="1">
                <a:solidFill>
                  <a:srgbClr val="0D5DB8"/>
                </a:solidFill>
              </a:rPr>
              <a:t>6. Локальное сохранение и sync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607808" y="1773936"/>
            <a:ext cx="3246120" cy="23774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сканирование объекта сразу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открывает карточку и действия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по проверке;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замечания, фото и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комментарии привязываются к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объекту на месте;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спорные случаи обсуждаются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 том же рабочем контуре;</a:t>
            </a:r>
          </a:p>
        </p:txBody>
      </p:sp>
      <p:pic>
        <p:nvPicPr>
          <p:cNvPr id="177" name="Picture 176" descr="proto_inventory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4443984"/>
            <a:ext cx="2761488" cy="1552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559572" y="374529"/>
            <a:ext cx="920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Практическая ценность, новизна и области</a:t>
            </a:r>
            <a:endParaRPr/>
          </a:p>
          <a:p>
            <a:pPr algn="l"/>
            <a:r>
              <a:rPr sz="2400" b="1">
                <a:solidFill>
                  <a:srgbClr val="0D5DB8"/>
                </a:solidFill>
              </a:rPr>
              <a:t>применения</a:t>
            </a:r>
          </a:p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566928" y="1664208"/>
            <a:ext cx="2907792" cy="3127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31520" y="1874519"/>
            <a:ext cx="2578608" cy="4754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0D5DB8"/>
                </a:solidFill>
              </a:rPr>
              <a:t>Практическая</a:t>
            </a:r>
          </a:p>
          <a:p>
            <a:pPr algn="ctr"/>
            <a:r>
              <a:rPr sz="1800" b="1">
                <a:solidFill>
                  <a:srgbClr val="0D5DB8"/>
                </a:solidFill>
              </a:rPr>
              <a:t>ценность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31520" y="2414016"/>
            <a:ext cx="2578608" cy="20482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непрерывность работы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даже при потере связи;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меньше ручного переноса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между инструментами;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материалы проверки и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решения не теряются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вне карточки объекта;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3822191" y="1664208"/>
            <a:ext cx="2907792" cy="3127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986783" y="1874519"/>
            <a:ext cx="2578608" cy="4754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0D5DB8"/>
                </a:solidFill>
              </a:rPr>
              <a:t>Новизна</a:t>
            </a:r>
          </a:p>
          <a:p>
            <a:pPr algn="ctr"/>
            <a:r>
              <a:rPr sz="1800" b="1">
                <a:solidFill>
                  <a:srgbClr val="0D5DB8"/>
                </a:solidFill>
              </a:rPr>
              <a:t>решения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986783" y="2414016"/>
            <a:ext cx="2578608" cy="20482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автономная локальная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работа как базовый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сценарий;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встроенные коммуникации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внутри предметного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процесса;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поздняя синхронизация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вместо ручного переноса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данных;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077456" y="1664208"/>
            <a:ext cx="2907792" cy="3127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242048" y="1874519"/>
            <a:ext cx="2578608" cy="47548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800" b="1">
                <a:solidFill>
                  <a:srgbClr val="0D5DB8"/>
                </a:solidFill>
              </a:rPr>
              <a:t>Где применять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242048" y="2414016"/>
            <a:ext cx="2578608" cy="20482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удалённые базы,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склады и площадки;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распределённые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организации и службы;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контролируемый пилот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 вузе или лаборатории;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777240" y="5102352"/>
            <a:ext cx="10040112" cy="640080"/>
          </a:xfrm>
          <a:prstGeom prst="roundRect">
            <a:avLst/>
          </a:prstGeom>
          <a:solidFill>
            <a:srgbClr val="DBE9FA"/>
          </a:solidFill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0">
                <a:solidFill>
                  <a:srgbClr val="27323D"/>
                </a:solidFill>
              </a:rPr>
              <a:t>Для задач Газпром проект релевантен как распределённая прикладная система для учёта, локальной устойчивости и работы с данными непосредственно на месте.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>
            <p:ph type="title"/>
          </p:nvPr>
        </p:nvSpPr>
        <p:spPr>
          <a:xfrm>
            <a:off x="559572" y="374529"/>
            <a:ext cx="9200000" cy="502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Компонентная архитектура проекта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Picture 175" descr="architecture_exi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35024"/>
            <a:ext cx="6903720" cy="388246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7571231" y="1591056"/>
            <a:ext cx="3493008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D5DB8"/>
                </a:solidFill>
              </a:rPr>
              <a:t>Что важно в архитектуре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571231" y="1956816"/>
            <a:ext cx="3401568" cy="2697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edge-узел включает UI,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inventory, локальную БД,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mesh-модуль и очередь sync;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central-контур содержит gateway,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organization access, inventory,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sync, relay, attachment и export;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локальные операции идут автономно,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а центральная система остаётся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точкой консолидации;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644383" y="5193792"/>
            <a:ext cx="3218688" cy="493776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Гибридная модель = локальная устойчивость + central source of truth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559572" y="374529"/>
            <a:ext cx="9200000" cy="502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000"/>
              <a:buFont typeface="Montserrat"/>
              <a:buNone/>
            </a:pPr>
            <a:r>
              <a:rPr sz="2400" b="1">
                <a:solidFill>
                  <a:srgbClr val="0D5DB8"/>
                </a:solidFill>
              </a:rPr>
              <a:t>Как синхронизируются изменения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5" name="Google Shape;185;p2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384048" y="1371600"/>
            <a:ext cx="6812280" cy="4315968"/>
          </a:xfrm>
          <a:prstGeom prst="rect">
            <a:avLst/>
          </a:prstGeom>
          <a:noFill/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58368" y="1609344"/>
            <a:ext cx="36576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0D5DB8"/>
                </a:solidFill>
              </a:rPr>
              <a:t>Путь изменения до central sync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58368" y="1847088"/>
            <a:ext cx="420624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788492"/>
                </a:solidFill>
              </a:rPr>
              <a:t>Локальная операция фиксируется сразу, а потом уходит в управляемую синхронизацию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86384" y="2779776"/>
            <a:ext cx="1060704" cy="530352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0D5DB8"/>
                </a:solidFill>
              </a:rPr>
              <a:t>Операция</a:t>
            </a:r>
          </a:p>
          <a:p>
            <a:pPr algn="ctr"/>
            <a:r>
              <a:rPr sz="1100" b="1">
                <a:solidFill>
                  <a:srgbClr val="0D5DB8"/>
                </a:solidFill>
              </a:rPr>
              <a:t>на площадке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975104" y="2779776"/>
            <a:ext cx="93268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Локальная</a:t>
            </a:r>
          </a:p>
          <a:p>
            <a:pPr algn="ctr"/>
            <a:r>
              <a:rPr sz="1100" b="1">
                <a:solidFill>
                  <a:srgbClr val="27323D"/>
                </a:solidFill>
              </a:rPr>
              <a:t>БД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054096" y="2779776"/>
            <a:ext cx="1042415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Очередь</a:t>
            </a:r>
          </a:p>
          <a:p>
            <a:pPr algn="ctr"/>
            <a:r>
              <a:rPr sz="1100" b="1">
                <a:solidFill>
                  <a:srgbClr val="27323D"/>
                </a:solidFill>
              </a:rPr>
              <a:t>изменений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4242816" y="2779776"/>
            <a:ext cx="95097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Sync</a:t>
            </a:r>
          </a:p>
          <a:p>
            <a:pPr algn="ctr"/>
            <a:r>
              <a:rPr sz="1100" b="1">
                <a:solidFill>
                  <a:srgbClr val="27323D"/>
                </a:solidFill>
              </a:rPr>
              <a:t>пакет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376672" y="2487168"/>
            <a:ext cx="1298448" cy="658368"/>
          </a:xfrm>
          <a:prstGeom prst="roundRect">
            <a:avLst/>
          </a:prstGeom>
          <a:solidFill>
            <a:srgbClr val="E4F4F1"/>
          </a:solidFill>
          <a:ln w="15875"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0B7A6F"/>
                </a:solidFill>
              </a:rPr>
              <a:t>Central</a:t>
            </a:r>
          </a:p>
          <a:p>
            <a:pPr algn="ctr"/>
            <a:r>
              <a:rPr sz="1100" b="1">
                <a:solidFill>
                  <a:srgbClr val="0B7A6F"/>
                </a:solidFill>
              </a:rPr>
              <a:t>Sync Service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5285232" y="3675887"/>
            <a:ext cx="1426464" cy="749808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0D5DB8"/>
                </a:solidFill>
              </a:rPr>
              <a:t>Подтверждение</a:t>
            </a:r>
          </a:p>
          <a:p>
            <a:pPr algn="ctr"/>
            <a:r>
              <a:rPr sz="1100" b="1">
                <a:solidFill>
                  <a:srgbClr val="0D5DB8"/>
                </a:solidFill>
              </a:rPr>
              <a:t>и новые</a:t>
            </a:r>
          </a:p>
          <a:p>
            <a:pPr algn="ctr"/>
            <a:r>
              <a:rPr sz="1100" b="1">
                <a:solidFill>
                  <a:srgbClr val="0D5DB8"/>
                </a:solidFill>
              </a:rPr>
              <a:t>delta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792224" y="3017520"/>
            <a:ext cx="146304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Isosceles Triangle 195"/>
          <p:cNvSpPr/>
          <p:nvPr/>
        </p:nvSpPr>
        <p:spPr>
          <a:xfrm rot="5400000">
            <a:off x="1828800" y="2962656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2852928" y="3017520"/>
            <a:ext cx="146304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Isosceles Triangle 197"/>
          <p:cNvSpPr/>
          <p:nvPr/>
        </p:nvSpPr>
        <p:spPr>
          <a:xfrm rot="5400000">
            <a:off x="2889503" y="2962656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4005072" y="3017520"/>
            <a:ext cx="164591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sosceles Triangle 199"/>
          <p:cNvSpPr/>
          <p:nvPr/>
        </p:nvSpPr>
        <p:spPr>
          <a:xfrm rot="5400000">
            <a:off x="4059935" y="2962656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5129784" y="2770632"/>
            <a:ext cx="173736" cy="246888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Isosceles Triangle 201"/>
          <p:cNvSpPr/>
          <p:nvPr/>
        </p:nvSpPr>
        <p:spPr>
          <a:xfrm>
            <a:off x="5248656" y="2770632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>
            <a:off x="5897880" y="3108960"/>
            <a:ext cx="0" cy="603503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Isosceles Triangle 203"/>
          <p:cNvSpPr/>
          <p:nvPr/>
        </p:nvSpPr>
        <p:spPr>
          <a:xfrm rot="10800000">
            <a:off x="5843016" y="3602735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 flipH="1">
            <a:off x="3639312" y="4059936"/>
            <a:ext cx="1645920" cy="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Isosceles Triangle 205"/>
          <p:cNvSpPr/>
          <p:nvPr/>
        </p:nvSpPr>
        <p:spPr>
          <a:xfrm rot="16200000">
            <a:off x="3639312" y="4005072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39312" y="3346704"/>
            <a:ext cx="0" cy="713232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Isosceles Triangle 207"/>
          <p:cNvSpPr/>
          <p:nvPr/>
        </p:nvSpPr>
        <p:spPr>
          <a:xfrm>
            <a:off x="3584448" y="3346704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822191" y="3785615"/>
            <a:ext cx="114300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cursor / delta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413248" y="2212848"/>
            <a:ext cx="1207008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changeId / idempotency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552944" y="1682496"/>
            <a:ext cx="3218688" cy="32461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операция фиксируется сразу и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попадает в локальную очередь;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узел отправляет sync-пакет с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идемпотентным changeId;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центр подтверждает запись,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возвращает новые delta и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выделяет конфликты отдельно;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поэтому поздняя sync не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сводится к ручному переносу;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Последовательность обработки входящего сетевого пакета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192" name="Google Shape;192;p23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193" name="Google Shape;193;p23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194" name="Google Shape;194;p23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Rectangle 194"/>
          <p:cNvSpPr/>
          <p:nvPr/>
        </p:nvSpPr>
        <p:spPr>
          <a:xfrm>
            <a:off x="347472" y="1389888"/>
            <a:ext cx="7296912" cy="4407408"/>
          </a:xfrm>
          <a:prstGeom prst="rect">
            <a:avLst/>
          </a:prstGeom>
          <a:noFill/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566928" y="1783080"/>
            <a:ext cx="93268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Узел A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1033271" y="2130552"/>
            <a:ext cx="0" cy="32186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1847088" y="1783080"/>
            <a:ext cx="93268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Transport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2313432" y="2130552"/>
            <a:ext cx="0" cy="32186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3236976" y="1783080"/>
            <a:ext cx="93268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Lifecycle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3703320" y="2130552"/>
            <a:ext cx="0" cy="32186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Rounded Rectangle 201"/>
          <p:cNvSpPr/>
          <p:nvPr/>
        </p:nvSpPr>
        <p:spPr>
          <a:xfrm>
            <a:off x="4626864" y="1783080"/>
            <a:ext cx="93268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Use-case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5093207" y="2130552"/>
            <a:ext cx="0" cy="32186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03"/>
          <p:cNvSpPr/>
          <p:nvPr/>
        </p:nvSpPr>
        <p:spPr>
          <a:xfrm>
            <a:off x="6016752" y="1783080"/>
            <a:ext cx="932688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>
                <a:solidFill>
                  <a:srgbClr val="27323D"/>
                </a:solidFill>
              </a:rPr>
              <a:t>Узел B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6483096" y="2130552"/>
            <a:ext cx="0" cy="32186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33271" y="2578608"/>
            <a:ext cx="813817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Isosceles Triangle 206"/>
          <p:cNvSpPr/>
          <p:nvPr/>
        </p:nvSpPr>
        <p:spPr>
          <a:xfrm rot="5400000">
            <a:off x="1737360" y="2523744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86384" y="2395728"/>
            <a:ext cx="1298448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POST /api/v1/packets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2313432" y="2907792"/>
            <a:ext cx="923544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Isosceles Triangle 209"/>
          <p:cNvSpPr/>
          <p:nvPr/>
        </p:nvSpPr>
        <p:spPr>
          <a:xfrm rot="5400000">
            <a:off x="3127248" y="2852928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212848" y="2724912"/>
            <a:ext cx="1353312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handleIncomingPacket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3703320" y="3328416"/>
            <a:ext cx="923544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Isosceles Triangle 212"/>
          <p:cNvSpPr/>
          <p:nvPr/>
        </p:nvSpPr>
        <p:spPr>
          <a:xfrm rot="5400000">
            <a:off x="4517136" y="3273552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803904" y="3163824"/>
            <a:ext cx="896112" cy="146304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payload</a:t>
            </a:r>
          </a:p>
        </p:txBody>
      </p:sp>
      <p:cxnSp>
        <p:nvCxnSpPr>
          <p:cNvPr id="215" name="Connector 214"/>
          <p:cNvCxnSpPr/>
          <p:nvPr/>
        </p:nvCxnSpPr>
        <p:spPr>
          <a:xfrm flipH="1">
            <a:off x="3703320" y="3675887"/>
            <a:ext cx="1389888" cy="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Isosceles Triangle 215"/>
          <p:cNvSpPr/>
          <p:nvPr/>
        </p:nvSpPr>
        <p:spPr>
          <a:xfrm rot="16200000">
            <a:off x="3703320" y="3621023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087368" y="3493008"/>
            <a:ext cx="658368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результат</a:t>
            </a:r>
          </a:p>
        </p:txBody>
      </p:sp>
      <p:cxnSp>
        <p:nvCxnSpPr>
          <p:cNvPr id="218" name="Connector 217"/>
          <p:cNvCxnSpPr/>
          <p:nvPr/>
        </p:nvCxnSpPr>
        <p:spPr>
          <a:xfrm flipH="1">
            <a:off x="2313432" y="4041648"/>
            <a:ext cx="923544" cy="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Isosceles Triangle 218"/>
          <p:cNvSpPr/>
          <p:nvPr/>
        </p:nvSpPr>
        <p:spPr>
          <a:xfrm rot="16200000">
            <a:off x="2313432" y="3986784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496312" y="3858768"/>
            <a:ext cx="749808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202 / 502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2313432" y="4443984"/>
            <a:ext cx="4169664" cy="0"/>
          </a:xfrm>
          <a:prstGeom prst="line">
            <a:avLst/>
          </a:prstGeom>
          <a:ln w="19050">
            <a:solidFill>
              <a:srgbClr val="0D5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Isosceles Triangle 221"/>
          <p:cNvSpPr/>
          <p:nvPr/>
        </p:nvSpPr>
        <p:spPr>
          <a:xfrm rot="5400000">
            <a:off x="6373368" y="4389120"/>
            <a:ext cx="109728" cy="109728"/>
          </a:xfrm>
          <a:prstGeom prst="triangle">
            <a:avLst/>
          </a:prstGeom>
          <a:solidFill>
            <a:srgbClr val="0D5DB8"/>
          </a:solidFill>
          <a:ln>
            <a:solidFill>
              <a:srgbClr val="0D5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438144" y="4261104"/>
            <a:ext cx="1975104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ответ доставки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401568" y="2907792"/>
            <a:ext cx="932688" cy="146304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0">
                <a:solidFill>
                  <a:srgbClr val="788492"/>
                </a:solidFill>
              </a:rPr>
              <a:t>dedup / trust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827264" y="1755648"/>
            <a:ext cx="3127248" cy="38862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27323D"/>
                </a:solidFill>
              </a:rPr>
              <a:t>1. Узел A отправляет POST-пакет</a:t>
            </a:r>
          </a:p>
          <a:p>
            <a:pPr algn="l"/>
            <a:r>
              <a:rPr sz="1400" b="0">
                <a:solidFill>
                  <a:srgbClr val="27323D"/>
                </a:solidFill>
              </a:rPr>
              <a:t>в transport.</a:t>
            </a:r>
          </a:p>
          <a:p>
            <a:pPr algn="l"/>
          </a:p>
          <a:p>
            <a:pPr algn="l"/>
            <a:r>
              <a:rPr sz="1400" b="0">
                <a:solidFill>
                  <a:srgbClr val="27323D"/>
                </a:solidFill>
              </a:rPr>
              <a:t>2. Transport передаёт его в</a:t>
            </a:r>
          </a:p>
          <a:p>
            <a:pPr algn="l"/>
            <a:r>
              <a:rPr sz="1400" b="0">
                <a:solidFill>
                  <a:srgbClr val="27323D"/>
                </a:solidFill>
              </a:rPr>
              <a:t>NodeLifecycleService.</a:t>
            </a:r>
          </a:p>
          <a:p>
            <a:pPr algn="l"/>
          </a:p>
          <a:p>
            <a:pPr algn="l"/>
            <a:r>
              <a:rPr sz="1400" b="0">
                <a:solidFill>
                  <a:srgbClr val="27323D"/>
                </a:solidFill>
              </a:rPr>
              <a:t>3. В lifecycle проходят dedup,</a:t>
            </a:r>
          </a:p>
          <a:p>
            <a:pPr algn="l"/>
            <a:r>
              <a:rPr sz="1400" b="0">
                <a:solidFill>
                  <a:srgbClr val="27323D"/>
                </a:solidFill>
              </a:rPr>
              <a:t>trust и проверка подписи.</a:t>
            </a:r>
          </a:p>
          <a:p>
            <a:pPr algn="l"/>
          </a:p>
          <a:p>
            <a:pPr algn="l"/>
            <a:r>
              <a:rPr sz="1400" b="0">
                <a:solidFill>
                  <a:srgbClr val="27323D"/>
                </a:solidFill>
              </a:rPr>
              <a:t>4. Затем payload уходит в</a:t>
            </a:r>
          </a:p>
          <a:p>
            <a:pPr algn="l"/>
            <a:r>
              <a:rPr sz="1400" b="0">
                <a:solidFill>
                  <a:srgbClr val="27323D"/>
                </a:solidFill>
              </a:rPr>
              <a:t>прикладной сервис.</a:t>
            </a:r>
          </a:p>
          <a:p>
            <a:pPr algn="l"/>
          </a:p>
          <a:p>
            <a:pPr algn="l"/>
            <a:r>
              <a:rPr sz="1400" b="0">
                <a:solidFill>
                  <a:srgbClr val="27323D"/>
                </a:solidFill>
              </a:rPr>
              <a:t>5. Use-case возвращает</a:t>
            </a:r>
          </a:p>
          <a:p>
            <a:pPr algn="l"/>
            <a:r>
              <a:rPr sz="1400" b="0">
                <a:solidFill>
                  <a:srgbClr val="27323D"/>
                </a:solidFill>
              </a:rPr>
              <a:t>результат обработки.</a:t>
            </a:r>
          </a:p>
          <a:p>
            <a:pPr algn="l"/>
          </a:p>
          <a:p>
            <a:pPr algn="l"/>
            <a:r>
              <a:rPr sz="1400" b="0">
                <a:solidFill>
                  <a:srgbClr val="27323D"/>
                </a:solidFill>
              </a:rPr>
              <a:t>6. Lifecycle и transport формируют</a:t>
            </a:r>
          </a:p>
          <a:p>
            <a:pPr algn="l"/>
            <a:r>
              <a:rPr sz="1400" b="0">
                <a:solidFill>
                  <a:srgbClr val="27323D"/>
                </a:solidFill>
              </a:rPr>
              <a:t>ответ доставки.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Поток передачи файла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03" name="Google Shape;203;p24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04" name="Google Shape;204;p24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05" name="Google Shape;205;p24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Rectangle 205"/>
          <p:cNvSpPr/>
          <p:nvPr/>
        </p:nvSpPr>
        <p:spPr>
          <a:xfrm>
            <a:off x="420624" y="1481328"/>
            <a:ext cx="6967728" cy="4160520"/>
          </a:xfrm>
          <a:prstGeom prst="rect">
            <a:avLst/>
          </a:prstGeom>
          <a:noFill/>
          <a:ln w="12700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1572768" y="1874519"/>
            <a:ext cx="932688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Узел A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5413248" y="1874519"/>
            <a:ext cx="932688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>
                <a:solidFill>
                  <a:srgbClr val="27323D"/>
                </a:solidFill>
              </a:rPr>
              <a:t>Узел B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2039112" y="2258568"/>
            <a:ext cx="0" cy="29900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5879592" y="2258568"/>
            <a:ext cx="0" cy="2990088"/>
          </a:xfrm>
          <a:prstGeom prst="line">
            <a:avLst/>
          </a:prstGeom>
          <a:ln w="12700">
            <a:solidFill>
              <a:srgbClr val="C2C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2039112" y="2615184"/>
            <a:ext cx="3840480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Isosceles Triangle 211"/>
          <p:cNvSpPr/>
          <p:nvPr/>
        </p:nvSpPr>
        <p:spPr>
          <a:xfrm rot="5400000">
            <a:off x="5769864" y="2560320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2743200" y="2450591"/>
            <a:ext cx="23774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27323D"/>
                </a:solidFill>
              </a:rPr>
              <a:t>FILE_OFFER</a:t>
            </a:r>
          </a:p>
        </p:txBody>
      </p:sp>
      <p:cxnSp>
        <p:nvCxnSpPr>
          <p:cNvPr id="214" name="Connector 213"/>
          <p:cNvCxnSpPr/>
          <p:nvPr/>
        </p:nvCxnSpPr>
        <p:spPr>
          <a:xfrm flipH="1">
            <a:off x="2039112" y="2907792"/>
            <a:ext cx="3840480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Isosceles Triangle 214"/>
          <p:cNvSpPr/>
          <p:nvPr/>
        </p:nvSpPr>
        <p:spPr>
          <a:xfrm rot="16200000">
            <a:off x="2039112" y="2852928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743200" y="2743200"/>
            <a:ext cx="23774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27323D"/>
                </a:solidFill>
              </a:rPr>
              <a:t>FILE_ACCEPT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2039112" y="3401568"/>
            <a:ext cx="3840480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Isosceles Triangle 217"/>
          <p:cNvSpPr/>
          <p:nvPr/>
        </p:nvSpPr>
        <p:spPr>
          <a:xfrm rot="5400000">
            <a:off x="5769864" y="3346704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743200" y="3236976"/>
            <a:ext cx="23774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27323D"/>
                </a:solidFill>
              </a:rPr>
              <a:t>FILE_CHUNK</a:t>
            </a:r>
          </a:p>
        </p:txBody>
      </p:sp>
      <p:cxnSp>
        <p:nvCxnSpPr>
          <p:cNvPr id="220" name="Connector 219"/>
          <p:cNvCxnSpPr/>
          <p:nvPr/>
        </p:nvCxnSpPr>
        <p:spPr>
          <a:xfrm flipH="1">
            <a:off x="2039112" y="3730752"/>
            <a:ext cx="3840480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Isosceles Triangle 220"/>
          <p:cNvSpPr/>
          <p:nvPr/>
        </p:nvSpPr>
        <p:spPr>
          <a:xfrm rot="16200000">
            <a:off x="2039112" y="3675888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743200" y="3566160"/>
            <a:ext cx="23774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27323D"/>
                </a:solidFill>
              </a:rPr>
              <a:t>FILE_ACK</a:t>
            </a:r>
          </a:p>
        </p:txBody>
      </p:sp>
      <p:cxnSp>
        <p:nvCxnSpPr>
          <p:cNvPr id="223" name="Connector 222"/>
          <p:cNvCxnSpPr/>
          <p:nvPr/>
        </p:nvCxnSpPr>
        <p:spPr>
          <a:xfrm flipH="1">
            <a:off x="2039112" y="4407408"/>
            <a:ext cx="3840480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Isosceles Triangle 223"/>
          <p:cNvSpPr/>
          <p:nvPr/>
        </p:nvSpPr>
        <p:spPr>
          <a:xfrm rot="16200000">
            <a:off x="2039112" y="4352544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2743200" y="4242816"/>
            <a:ext cx="23774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27323D"/>
                </a:solidFill>
              </a:rPr>
              <a:t>FILE_COMPLETE (SHA-256 ok)</a:t>
            </a:r>
          </a:p>
        </p:txBody>
      </p:sp>
      <p:cxnSp>
        <p:nvCxnSpPr>
          <p:cNvPr id="226" name="Connector 225"/>
          <p:cNvCxnSpPr/>
          <p:nvPr/>
        </p:nvCxnSpPr>
        <p:spPr>
          <a:xfrm flipH="1">
            <a:off x="2039112" y="4736592"/>
            <a:ext cx="3840480" cy="0"/>
          </a:xfrm>
          <a:prstGeom prst="line">
            <a:avLst/>
          </a:prstGeom>
          <a:ln w="19050">
            <a:solidFill>
              <a:srgbClr val="0B7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Isosceles Triangle 226"/>
          <p:cNvSpPr/>
          <p:nvPr/>
        </p:nvSpPr>
        <p:spPr>
          <a:xfrm rot="16200000">
            <a:off x="2039112" y="4681728"/>
            <a:ext cx="109728" cy="109728"/>
          </a:xfrm>
          <a:prstGeom prst="triangle">
            <a:avLst/>
          </a:prstGeom>
          <a:solidFill>
            <a:srgbClr val="0B7A6F"/>
          </a:solidFill>
          <a:ln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743200" y="4572000"/>
            <a:ext cx="237744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000" b="0">
                <a:solidFill>
                  <a:srgbClr val="27323D"/>
                </a:solidFill>
              </a:rPr>
              <a:t>FILE_RESUME_REQUEST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892807" y="3127248"/>
            <a:ext cx="4133087" cy="868680"/>
          </a:xfrm>
          <a:prstGeom prst="rect">
            <a:avLst/>
          </a:prstGeom>
          <a:noFill/>
          <a:ln w="12700">
            <a:solidFill>
              <a:srgbClr val="CEC4F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2029968" y="3017520"/>
            <a:ext cx="914400" cy="1371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800" b="1">
                <a:solidFill>
                  <a:srgbClr val="788492"/>
                </a:solidFill>
              </a:rPr>
              <a:t>Цикл по чанкам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675887" y="3017520"/>
            <a:ext cx="749808" cy="1371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800" b="1">
                <a:solidFill>
                  <a:srgbClr val="788492"/>
                </a:solidFill>
              </a:rPr>
              <a:t>[chunks]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498079" y="1783080"/>
            <a:ext cx="3429000" cy="3931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0">
                <a:solidFill>
                  <a:srgbClr val="27323D"/>
                </a:solidFill>
              </a:rPr>
              <a:t>1. Отправитель инициирует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обмен через FILE_OFFER.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2. Получатель отвечает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FILE_ACCEPT.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3. Файл идёт чанками через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FILE_CHUNK.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4. Каждый блок подтверждается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сообщением FILE_ACK.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5. После сборки проверяется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итоговый SHA-256.</a:t>
            </a:r>
          </a:p>
          <a:p>
            <a:pPr algn="l"/>
          </a:p>
          <a:p>
            <a:pPr algn="l"/>
            <a:r>
              <a:rPr sz="1500" b="0">
                <a:solidFill>
                  <a:srgbClr val="27323D"/>
                </a:solidFill>
              </a:rPr>
              <a:t>6. При пропусках используется</a:t>
            </a:r>
          </a:p>
          <a:p>
            <a:pPr algn="l"/>
            <a:r>
              <a:rPr sz="1500" b="0">
                <a:solidFill>
                  <a:srgbClr val="27323D"/>
                </a:solidFill>
              </a:rPr>
              <a:t>FILE_RESUME_REQUEST.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Устойчивость и безопасность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14" name="Google Shape;214;p25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15" name="Google Shape;215;p25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16" name="Google Shape;216;p25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Rounded Rectangle 216"/>
          <p:cNvSpPr/>
          <p:nvPr/>
        </p:nvSpPr>
        <p:spPr>
          <a:xfrm>
            <a:off x="475488" y="1554480"/>
            <a:ext cx="28346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21792" y="1664207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Автономная работа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21792" y="2029967"/>
            <a:ext cx="2542032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локальный узел продолжает работу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и хранит операционное состояние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886200" y="1554480"/>
            <a:ext cx="28346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032504" y="1664207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Доверие узлов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032504" y="2029967"/>
            <a:ext cx="2542032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pairing invite, TTL, nonce,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peerId и trust state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296912" y="1554480"/>
            <a:ext cx="28346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443216" y="1664207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Надёжная доставка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443216" y="2029967"/>
            <a:ext cx="2542032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packetId, dedup, ACK,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retry и дозагрузка чанков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475488" y="3310128"/>
            <a:ext cx="28346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21792" y="3419856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Шифрование данных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21792" y="3785616"/>
            <a:ext cx="2542032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AES-GCM для payload,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RSA-OAEP для ключа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886200" y="3310128"/>
            <a:ext cx="28346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032504" y="3419856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Резервные маршруты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032504" y="3785616"/>
            <a:ext cx="2542032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relay / multihop, route health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и деградация связности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296912" y="3310128"/>
            <a:ext cx="2834640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443216" y="3419856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0D5DB8"/>
                </a:solidFill>
              </a:rPr>
              <a:t>Звонки и media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443216" y="3785616"/>
            <a:ext cx="2542032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CALL_SIGNAL отдельно от media,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WebRTC + DTLS-SRTP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43000" y="5074920"/>
            <a:ext cx="9235440" cy="566928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1">
                <a:solidFill>
                  <a:srgbClr val="27323D"/>
                </a:solidFill>
              </a:rPr>
              <a:t>Вместе эти механизмы позволяют не останавливать рабочий процесс при сетевой деградации и не терять корректность обмена между узлами.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Текущий статус и план пилота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4" name="Google Shape;2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25" name="Google Shape;225;p26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26" name="Google Shape;226;p26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27" name="Google Shape;227;p26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Rounded Rectangle 227"/>
          <p:cNvSpPr/>
          <p:nvPr/>
        </p:nvSpPr>
        <p:spPr>
          <a:xfrm>
            <a:off x="530352" y="1609344"/>
            <a:ext cx="2962656" cy="1005840"/>
          </a:xfrm>
          <a:prstGeom prst="roundRect">
            <a:avLst/>
          </a:prstGeom>
          <a:solidFill>
            <a:srgbClr val="BFDEA7"/>
          </a:solidFill>
          <a:ln w="15875">
            <a:solidFill>
              <a:srgbClr val="7FA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>
                <a:solidFill>
                  <a:srgbClr val="27323D"/>
                </a:solidFill>
              </a:rPr>
              <a:t>Статус проекта</a:t>
            </a:r>
          </a:p>
          <a:p>
            <a:pPr algn="ctr"/>
            <a:r>
              <a:rPr sz="1800" b="1">
                <a:solidFill>
                  <a:srgbClr val="27323D"/>
                </a:solidFill>
              </a:rPr>
              <a:t>Функциональный прототип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794760" y="1609344"/>
            <a:ext cx="3703320" cy="1005840"/>
          </a:xfrm>
          <a:prstGeom prst="roundRect">
            <a:avLst/>
          </a:prstGeom>
          <a:solidFill>
            <a:srgbClr val="DBE9FA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27323D"/>
                </a:solidFill>
              </a:rPr>
              <a:t>Подтверждено в реализации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Desktop и Android UI, inventory-контур,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mesh-коммуникации, hybrid sync, API и тесты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7790688" y="1609344"/>
            <a:ext cx="2798064" cy="1005840"/>
          </a:xfrm>
          <a:prstGeom prst="roundRect">
            <a:avLst/>
          </a:prstGeom>
          <a:solidFill>
            <a:srgbClr val="E4F4F1"/>
          </a:solidFill>
          <a:ln w="15875">
            <a:solidFill>
              <a:srgbClr val="0B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300" b="0">
                <a:solidFill>
                  <a:srgbClr val="27323D"/>
                </a:solidFill>
              </a:rPr>
              <a:t>Цель следующего этапа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Пилотная апробация на ограниченной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площадке без завышения стадии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66928" y="2852928"/>
            <a:ext cx="256032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D5DB8"/>
                </a:solidFill>
              </a:rPr>
              <a:t>Этапы пилота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585216" y="3401568"/>
            <a:ext cx="2523744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694944" y="3547872"/>
            <a:ext cx="22860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D5DB8"/>
                </a:solidFill>
              </a:rPr>
              <a:t>1. Одна площадка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94944" y="3913632"/>
            <a:ext cx="2267712" cy="7498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реестр объектов,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маркировка,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1-2 сессии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3291840" y="3401568"/>
            <a:ext cx="2523744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401568" y="3547872"/>
            <a:ext cx="22860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D5DB8"/>
                </a:solidFill>
              </a:rPr>
              <a:t>2. Offline-сценарии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3401568" y="3913632"/>
            <a:ext cx="2267712" cy="7498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несколько узлов,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локальный обмен,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offline/online-переходы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98464" y="3401568"/>
            <a:ext cx="2523744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108192" y="3547872"/>
            <a:ext cx="22860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D5DB8"/>
                </a:solidFill>
              </a:rPr>
              <a:t>3. Расширение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108192" y="3913632"/>
            <a:ext cx="2267712" cy="7498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вложения,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отчёты,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ролевой контекст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705088" y="3401568"/>
            <a:ext cx="2523744" cy="15727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C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814815" y="3547872"/>
            <a:ext cx="2286000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0D5DB8"/>
                </a:solidFill>
              </a:rPr>
              <a:t>4. Интеграция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814815" y="3913632"/>
            <a:ext cx="2267712" cy="7498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0">
                <a:solidFill>
                  <a:srgbClr val="27323D"/>
                </a:solidFill>
              </a:rPr>
              <a:t>регламент обмена,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central-контур,</a:t>
            </a:r>
          </a:p>
          <a:p>
            <a:pPr algn="ctr"/>
            <a:r>
              <a:rPr sz="1300" b="0">
                <a:solidFill>
                  <a:srgbClr val="27323D"/>
                </a:solidFill>
              </a:rPr>
              <a:t>ограничения эксплуатации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051560" y="5230368"/>
            <a:ext cx="9281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88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0">
                <a:solidFill>
                  <a:srgbClr val="27323D"/>
                </a:solidFill>
              </a:rPr>
              <a:t>Реалистичная формулировка стадии: не промышленная эксплуатация, а функциональный прототип, готовый к пилотной апробации.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Прототип: рабочий центр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5" name="Google Shape;2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36" name="Google Shape;236;p27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37" name="Google Shape;237;p27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38" name="Google Shape;238;p27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 txBox="1"/>
          <p:nvPr/>
        </p:nvSpPr>
        <p:spPr>
          <a:xfrm>
            <a:off x="645800" y="1873375"/>
            <a:ext cx="976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400" b="0">
                <a:solidFill>
                  <a:srgbClr val="788492"/>
                </a:solidFill>
              </a:rPr>
              <a:t>Рабочий центр: организация, сводка по объектам, проверки и быстрый вход к основным действиям.</a:t>
            </a:r>
            <a:endParaRPr b="1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Picture 239" descr="proto_m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" y="0"/>
            <a:ext cx="12192000" cy="6947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Прототип: inventory-контур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47" name="Google Shape;247;p28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48" name="Google Shape;248;p28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249" name="Google Shape;249;p28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 txBox="1"/>
          <p:nvPr/>
        </p:nvSpPr>
        <p:spPr>
          <a:xfrm>
            <a:off x="645800" y="1873375"/>
            <a:ext cx="976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400" b="0">
                <a:solidFill>
                  <a:srgbClr val="788492"/>
                </a:solidFill>
              </a:rPr>
              <a:t>Список оборудования, карточки, операции по правке и работа с кодами в предметном контуре.</a:t>
            </a:r>
            <a:endParaRPr b="1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Picture 250" descr="proto_inventory_car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" y="0"/>
            <a:ext cx="12192000" cy="69471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3"/>
          <p:cNvSpPr txBox="1"/>
          <p:nvPr>
            <p:ph type="title"/>
          </p:nvPr>
        </p:nvSpPr>
        <p:spPr>
          <a:xfrm>
            <a:off x="456825" y="676725"/>
            <a:ext cx="98391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0D5DB8"/>
                </a:solidFill>
              </a:rPr>
              <a:t>Прототип: сопряжение и коммуникации</a:t>
            </a:r>
            <a:endParaRPr sz="4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1" name="Google Shape;3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0" y="-300990"/>
            <a:ext cx="23495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302" name="Google Shape;302;p33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 rot="1740000">
            <a:off x="8286132" y="449649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303" name="Google Shape;303;p33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4077622" y="-4868235"/>
            <a:ext cx="5940000" cy="59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wing.com" id="304" name="Google Shape;304;p33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-2733078" y="3781985"/>
            <a:ext cx="5940000" cy="59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3"/>
          <p:cNvSpPr txBox="1"/>
          <p:nvPr/>
        </p:nvSpPr>
        <p:spPr>
          <a:xfrm>
            <a:off x="645800" y="1873375"/>
            <a:ext cx="976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sz="1400" b="0">
                <a:solidFill>
                  <a:srgbClr val="788492"/>
                </a:solidFill>
              </a:rPr>
              <a:t>Сопряжение, обмен приглашением и вход в коммуникационный контур внутри той же платформы.</a:t>
            </a:r>
            <a:endParaRPr b="1" i="1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" y="41025"/>
            <a:ext cx="12035613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