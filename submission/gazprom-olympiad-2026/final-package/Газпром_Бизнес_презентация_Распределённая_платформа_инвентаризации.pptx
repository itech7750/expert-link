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7543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5DB8"/>
                </a:solidFill>
                <a:latin typeface="Arial"/>
              </a:defRPr>
            </a:pPr>
            <a:r>
              <a:t>Распределённая платформа инвентаризации, обмена данными и оперативного взаимодействия для удалённых производственных объектов в условиях нестабильной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6629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rial"/>
              </a:defRPr>
            </a:pPr>
            <a:r>
              <a:t>Бизнес-презентация для конкурсной подачи на олимпиаду «Газпром»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508760"/>
            <a:ext cx="2286000" cy="9601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Участник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Титарь Игорь Андреевич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697480"/>
            <a:ext cx="2286000" cy="9601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Профиль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Информационные системы и технологии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886200"/>
            <a:ext cx="2286000" cy="9601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Вуз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НИЯУ МИФИ, ИИКС, кафедра №22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Структура презентации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846320" cy="914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1. Проблема удалённых объектов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846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2. Предлагаемое решение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4846320" cy="914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3. Сценарии применения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71800"/>
            <a:ext cx="4846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4. Сравнение с классическими системами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97680"/>
            <a:ext cx="4846320" cy="914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5. Готовность к пилоту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4846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6. Практическая ценность для Газпром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Почему задача важна для удалённых объектов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Учёт имущества, материалы проверки и обсуждения часто живут в разных каналах.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На удалённых площадках внешний канал может быть нестабилен или отсутствовать полностью.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Комиссия вынуждена переходить на таблицы, бумагу и сторонние мессенджеры.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После этого результат приходится вручную сводить и переносить в централизованный контур.</a:t>
            </a:r>
          </a:p>
        </p:txBody>
      </p:sp>
      <p:pic>
        <p:nvPicPr>
          <p:cNvPr id="8" name="Picture 7" descr="diagram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120640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Что именно нарушается в условиях нестабильной связи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3"/>
                </a:solidFill>
                <a:latin typeface="Arial"/>
              </a:defRPr>
            </a:pPr>
            <a:r>
              <a:t>невозможно опираться только на центральную систему;</a:t>
            </a:r>
          </a:p>
          <a:p>
            <a:pPr>
              <a:spcAft>
                <a:spcPts val="800"/>
              </a:spcAft>
              <a:defRPr sz="1900">
                <a:solidFill>
                  <a:srgbClr val="1F2933"/>
                </a:solidFill>
                <a:latin typeface="Arial"/>
              </a:defRPr>
            </a:pPr>
            <a:r>
              <a:t>теряется контекст спорных объектов и принятых решений;</a:t>
            </a:r>
          </a:p>
          <a:p>
            <a:pPr>
              <a:spcAft>
                <a:spcPts val="800"/>
              </a:spcAft>
              <a:defRPr sz="1900">
                <a:solidFill>
                  <a:srgbClr val="1F2933"/>
                </a:solidFill>
                <a:latin typeface="Arial"/>
              </a:defRPr>
            </a:pPr>
            <a:r>
              <a:t>обсуждения и файлы не связаны с карточкой имущества;</a:t>
            </a:r>
          </a:p>
          <a:p>
            <a:pPr>
              <a:spcAft>
                <a:spcPts val="800"/>
              </a:spcAft>
              <a:defRPr sz="1900">
                <a:solidFill>
                  <a:srgbClr val="1F2933"/>
                </a:solidFill>
                <a:latin typeface="Arial"/>
              </a:defRPr>
            </a:pPr>
            <a:r>
              <a:t>проверка на площадке замедляется, а результаты откладываются «до офиса».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5486400" cy="8686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Следствие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Потеря времени, рост числа ручных переносов и снижение прозрачности учёта.</a:t>
            </a:r>
          </a:p>
        </p:txBody>
      </p:sp>
      <p:pic>
        <p:nvPicPr>
          <p:cNvPr id="9" name="Picture 8" descr="mobi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1920240" cy="4267200"/>
          </a:xfrm>
          <a:prstGeom prst="rect">
            <a:avLst/>
          </a:prstGeom>
        </p:spPr>
      </p:pic>
      <p:pic>
        <p:nvPicPr>
          <p:cNvPr id="10" name="Picture 9" descr="mobile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645920"/>
            <a:ext cx="1920240" cy="426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Что предлагает проект</a:t>
            </a:r>
          </a:p>
        </p:txBody>
      </p:sp>
      <p:pic>
        <p:nvPicPr>
          <p:cNvPr id="7" name="Picture 6" descr="diagram_single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8288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единый контур для учёта имущества и оперативного взаимодействия;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локальная работа между устройствами без обязательной зависимости от центрального интернета;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последующая синхронизация с центральным контуром при восстановлении связи;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983480"/>
            <a:ext cx="3703320" cy="8229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Ключевая идея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Не отдельный мессенджер и не отдельный учётный модуль, а единая распределённая платформа.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Как система работает с интернетом и без него</a:t>
            </a:r>
          </a:p>
        </p:txBody>
      </p:sp>
      <p:pic>
        <p:nvPicPr>
          <p:cNvPr id="7" name="Picture 6" descr="diagram_online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629400" cy="3729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874519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в online-режиме данные консолидируются в центральном контуре;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в offline-режиме комиссия продолжает работу локально;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пользователь не теряет доступ к карточкам, сессиям, чатам, файлам и обсуждениям;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Ключевые функции платформы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Инвентаризация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Карточки объектов, статусы, местоположения, ответственные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Маркировка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QR, штрихкоды, печать этикеток, сканирование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Коммуникации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Чаты, ветки обсуждений, файлы, звонки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97180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Синхронизация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Локальная очередь изменений и central sync</a:t>
            </a:r>
          </a:p>
        </p:txBody>
      </p:sp>
      <p:pic>
        <p:nvPicPr>
          <p:cNvPr id="11" name="Picture 10" descr="proto_invento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4754880" cy="26740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Сценарий работы комиссии</a:t>
            </a:r>
          </a:p>
        </p:txBody>
      </p:sp>
      <p:pic>
        <p:nvPicPr>
          <p:cNvPr id="7" name="Picture 6" descr="diagram_commiss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78308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подготовка сессии и списка объектов;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выезд на площадку и сканирование оборудования;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фиксация замечаний, фото и документов;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обсуждение спорных объектов внутри рабочего контура;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синхронизация после восстановления связи;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Почему это лучше разрозненного набора инструментов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Excel + бумага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Данные и промежуточные результаты живут отдельно от обсуждений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Сторонний мессенджер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Файлы и решения комиссии не привязаны к объектам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Только central-контур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При потере связи часть работы откладывается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331720"/>
            <a:ext cx="3794760" cy="192024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Платформа проекта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Объекты, проверки, коммуникации и материалы объединены в одном рабочем контуре. Отсутствие внешней связи не останавливает локальную работу.</a:t>
            </a:r>
          </a:p>
        </p:txBody>
      </p:sp>
      <p:pic>
        <p:nvPicPr>
          <p:cNvPr id="11" name="Picture 10" descr="mobile_ch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91640"/>
            <a:ext cx="1737360" cy="3860800"/>
          </a:xfrm>
          <a:prstGeom prst="rect">
            <a:avLst/>
          </a:prstGeom>
        </p:spPr>
      </p:pic>
      <p:pic>
        <p:nvPicPr>
          <p:cNvPr id="12" name="Picture 11" descr="mobile_transf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1691640"/>
            <a:ext cx="1737360" cy="3860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Сравнение с классическими централизованными решениями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Наш проект</a:t>
                      </a:r>
                    </a:p>
                  </a:txBody>
                  <a:tcPr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Классические централизованные решения</a:t>
                      </a:r>
                    </a:p>
                  </a:txBody>
                  <a:tcPr>
                    <a:solidFill>
                      <a:srgbClr val="E1EFF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Локальная автономная работа без центрального канала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Как правило, не является базовым сценарием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Встроенные коммуникации в предметном контуре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Обычно используются внешние каналы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Связка объекта, обсуждения и вложений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Часто требует ручного связывания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Работа комиссии на удалённой площадке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Целевой сценарий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Обычно опирается на устойчивый доступ к центру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Текущий статус и готовность к пилоту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83464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Статус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Функциональный прототип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283464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Подтверждено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API, клиентские экраны, inventory-контур, hybrid sync, тесты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43400"/>
            <a:ext cx="283464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Следующий шаг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Пилотная апробация на ограниченной площадке</a:t>
            </a:r>
          </a:p>
        </p:txBody>
      </p:sp>
      <p:pic>
        <p:nvPicPr>
          <p:cNvPr id="10" name="Picture 9" descr="prot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45920"/>
            <a:ext cx="3657600" cy="2056933"/>
          </a:xfrm>
          <a:prstGeom prst="rect">
            <a:avLst/>
          </a:prstGeom>
        </p:spPr>
      </p:pic>
      <p:pic>
        <p:nvPicPr>
          <p:cNvPr id="11" name="Picture 10" descr="mobile_pairing_sc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1640"/>
            <a:ext cx="1371600" cy="3061287"/>
          </a:xfrm>
          <a:prstGeom prst="rect">
            <a:avLst/>
          </a:prstGeom>
        </p:spPr>
      </p:pic>
      <p:pic>
        <p:nvPicPr>
          <p:cNvPr id="12" name="Picture 11" descr="mobile_c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1691640"/>
            <a:ext cx="1371600" cy="30612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План пилотного внедрения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200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Этап 1: Одна площадка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реестр объектов, маркировка, одна-две сессии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200400" cy="2057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Этап 2: Проверка offline-сценариев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локальная работа нескольких узлов и последующая синхронизация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20240"/>
            <a:ext cx="3200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Этап 3: Расширение и интеграция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увеличение числа пользователей и подготовка к подключению центрального контура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663440"/>
            <a:ext cx="8778240" cy="8686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Результат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Пилот позволяет подтвердить удобство сценариев, сетевую устойчивость и применимость решения к распределённым объектам.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Практическая ценность для удалённых производственных объектов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Непрерывность работы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Проверка и взаимодействие не останавливаются при потере внешней связи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Единый контур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Карточка объекта, обсуждение, файл и результат связаны между собой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Прозрачность учёта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Меньше ручных переносов и разрывов между фактом и отчётностью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333756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Готовность к пилоту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Есть прототип и набор сценариев для ограниченной апробации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337560"/>
            <a:ext cx="2560320" cy="109728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Релевантность профилю ИСТ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Прикладная распределённая информационная система для реального процесса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0515600" cy="27889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2933"/>
                </a:solidFill>
                <a:latin typeface="Arial"/>
              </a:defRPr>
            </a:pPr>
            <a:r>
              <a:t>Распределённая платформа инвентаризации позволяет не останавливать работу комиссии и сотрудников там, где централизованный интернет нестабилен или отсутствует. Проект объединяет учёт, маркировку, обсуждения, файлы и связь в одном рабочем контуре и уже находится на стадии функционального прототипа, пригодного для пилотной апробации.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3"/>
                </a:solidFill>
                <a:latin typeface="Arial"/>
              </a:defRPr>
            </a:pPr>
            <a:r>
              <a:t>Титарь Игорь Андреевич</a:t>
            </a:r>
            <a:br/>
            <a:r>
              <a:t>НИЯУ МИФИ, ИИКС, кафедра №22</a:t>
            </a:r>
            <a:br/>
            <a:r>
              <a:t>tigor7750@gmail.com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