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12.png"/><Relationship Id="rId5" Type="http://schemas.openxmlformats.org/officeDocument/2006/relationships/image" Target="../media/image9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14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D5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-457200"/>
            <a:ext cx="2560320" cy="2560320"/>
          </a:xfrm>
          <a:prstGeom prst="ellipse">
            <a:avLst/>
          </a:prstGeom>
          <a:noFill/>
          <a:ln w="15875"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49840" y="-274320"/>
            <a:ext cx="2468880" cy="2468880"/>
          </a:xfrm>
          <a:prstGeom prst="ellipse">
            <a:avLst/>
          </a:prstGeom>
          <a:noFill/>
          <a:ln w="15875"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0" y="5486400"/>
            <a:ext cx="2743200" cy="2743200"/>
          </a:xfrm>
          <a:prstGeom prst="ellipse">
            <a:avLst/>
          </a:prstGeom>
          <a:noFill/>
          <a:ln w="15875"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10972800" cy="3977639"/>
          </a:xfrm>
          <a:prstGeom prst="roundRect">
            <a:avLst/>
          </a:prstGeom>
          <a:solidFill>
            <a:srgbClr val="E1EFFD"/>
          </a:solidFill>
          <a:ln w="15240">
            <a:solidFill>
              <a:srgbClr val="CE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481328"/>
            <a:ext cx="75438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D5DB8"/>
                </a:solidFill>
                <a:latin typeface="Arial"/>
              </a:defRPr>
            </a:pPr>
            <a:r>
              <a:t>Распределённая платформа инвентаризации, обмена данными и оперативного взаимодействия для удалённых производственных объектов в условиях нестабильной связи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4343400"/>
            <a:ext cx="6629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933"/>
                </a:solidFill>
                <a:latin typeface="Arial"/>
              </a:defRPr>
            </a:pPr>
            <a:r>
              <a:t>Техническая презентация для конкурсной защиты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41080" y="1508760"/>
            <a:ext cx="2286000" cy="960120"/>
          </a:xfrm>
          <a:prstGeom prst="roundRect">
            <a:avLst/>
          </a:prstGeom>
          <a:solidFill>
            <a:srgbClr val="E1EFFD"/>
          </a:solidFill>
          <a:ln w="12700">
            <a:solidFill>
              <a:srgbClr val="CE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D5DB8"/>
                </a:solidFill>
                <a:latin typeface="Arial"/>
              </a:defRPr>
            </a:pPr>
            <a:r>
              <a:t>Участник</a:t>
            </a:r>
          </a:p>
          <a:p>
            <a:pPr>
              <a:spcBef>
                <a:spcPts val="600"/>
              </a:spcBef>
              <a:defRPr sz="1200">
                <a:solidFill>
                  <a:srgbClr val="1F2933"/>
                </a:solidFill>
                <a:latin typeface="Arial"/>
              </a:defRPr>
            </a:pPr>
            <a:r>
              <a:t>Титарь Игорь Андреевич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41080" y="2697480"/>
            <a:ext cx="2286000" cy="960120"/>
          </a:xfrm>
          <a:prstGeom prst="roundRect">
            <a:avLst/>
          </a:prstGeom>
          <a:solidFill>
            <a:srgbClr val="E1EFFD"/>
          </a:solidFill>
          <a:ln w="12700">
            <a:solidFill>
              <a:srgbClr val="CE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D5DB8"/>
                </a:solidFill>
                <a:latin typeface="Arial"/>
              </a:defRPr>
            </a:pPr>
            <a:r>
              <a:t>Профиль</a:t>
            </a:r>
          </a:p>
          <a:p>
            <a:pPr>
              <a:spcBef>
                <a:spcPts val="600"/>
              </a:spcBef>
              <a:defRPr sz="1200">
                <a:solidFill>
                  <a:srgbClr val="1F2933"/>
                </a:solidFill>
                <a:latin typeface="Arial"/>
              </a:defRPr>
            </a:pPr>
            <a:r>
              <a:t>Информационные системы и технологии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41080" y="3886200"/>
            <a:ext cx="2286000" cy="960120"/>
          </a:xfrm>
          <a:prstGeom prst="roundRect">
            <a:avLst/>
          </a:prstGeom>
          <a:solidFill>
            <a:srgbClr val="E1EFFD"/>
          </a:solidFill>
          <a:ln w="12700">
            <a:solidFill>
              <a:srgbClr val="CE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D5DB8"/>
                </a:solidFill>
                <a:latin typeface="Arial"/>
              </a:defRPr>
            </a:pPr>
            <a:r>
              <a:t>Вуз</a:t>
            </a:r>
          </a:p>
          <a:p>
            <a:pPr>
              <a:spcBef>
                <a:spcPts val="600"/>
              </a:spcBef>
              <a:defRPr sz="1200">
                <a:solidFill>
                  <a:srgbClr val="1F2933"/>
                </a:solidFill>
                <a:latin typeface="Arial"/>
              </a:defRPr>
            </a:pPr>
            <a:r>
              <a:t>НИЯУ МИФИ, ИИКС, кафедра №22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A8696"/>
                </a:solidFill>
                <a:latin typeface="Arial"/>
              </a:defRPr>
            </a:pPr>
            <a:r>
              <a:t>Распределённая платформа инвентаризации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A8696"/>
                </a:solidFill>
                <a:latin typeface="Arial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D5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-457200"/>
            <a:ext cx="2560320" cy="2560320"/>
          </a:xfrm>
          <a:prstGeom prst="ellipse">
            <a:avLst/>
          </a:prstGeom>
          <a:noFill/>
          <a:ln w="15875"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49840" y="-274320"/>
            <a:ext cx="2468880" cy="2468880"/>
          </a:xfrm>
          <a:prstGeom prst="ellipse">
            <a:avLst/>
          </a:prstGeom>
          <a:noFill/>
          <a:ln w="15875"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0" y="5486400"/>
            <a:ext cx="2743200" cy="2743200"/>
          </a:xfrm>
          <a:prstGeom prst="ellipse">
            <a:avLst/>
          </a:prstGeom>
          <a:noFill/>
          <a:ln w="15875"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7498079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5DB8"/>
                </a:solidFill>
                <a:latin typeface="Arial"/>
              </a:defRPr>
            </a:pPr>
            <a:r>
              <a:t>Техническая структура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45920"/>
            <a:ext cx="4892040" cy="914400"/>
          </a:xfrm>
          <a:prstGeom prst="roundRect">
            <a:avLst/>
          </a:prstGeom>
          <a:solidFill>
            <a:srgbClr val="E1EFFD"/>
          </a:solidFill>
          <a:ln w="12700">
            <a:solidFill>
              <a:srgbClr val="CE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D5DB8"/>
                </a:solidFill>
                <a:latin typeface="Arial"/>
              </a:defRPr>
            </a:pPr>
            <a:r>
              <a:t>1. Ограничения среды и сценарии использования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48920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D5DB8"/>
                </a:solidFill>
                <a:latin typeface="Arial"/>
              </a:defRPr>
            </a:pPr>
            <a:r>
              <a:t>2. Архитектура и контуры системы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971800"/>
            <a:ext cx="4892040" cy="914400"/>
          </a:xfrm>
          <a:prstGeom prst="roundRect">
            <a:avLst/>
          </a:prstGeom>
          <a:solidFill>
            <a:srgbClr val="E1EFFD"/>
          </a:solidFill>
          <a:ln w="12700">
            <a:solidFill>
              <a:srgbClr val="CE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D5DB8"/>
                </a:solidFill>
                <a:latin typeface="Arial"/>
              </a:defRPr>
            </a:pPr>
            <a:r>
              <a:t>3. Online/offline и синхронизация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971800"/>
            <a:ext cx="48920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D5DB8"/>
                </a:solidFill>
                <a:latin typeface="Arial"/>
              </a:defRPr>
            </a:pPr>
            <a:r>
              <a:t>4. Сетевое взаимодействие и коммуникации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297680"/>
            <a:ext cx="4892040" cy="914400"/>
          </a:xfrm>
          <a:prstGeom prst="roundRect">
            <a:avLst/>
          </a:prstGeom>
          <a:solidFill>
            <a:srgbClr val="E1EFFD"/>
          </a:solidFill>
          <a:ln w="12700">
            <a:solidFill>
              <a:srgbClr val="CE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D5DB8"/>
                </a:solidFill>
                <a:latin typeface="Arial"/>
              </a:defRPr>
            </a:pPr>
            <a:r>
              <a:t>5. Инвентаризационный контур и прототип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297680"/>
            <a:ext cx="48920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D5DB8"/>
                </a:solidFill>
                <a:latin typeface="Arial"/>
              </a:defRPr>
            </a:pPr>
            <a:r>
              <a:t>6. Статус реализации и ограничения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A8696"/>
                </a:solidFill>
                <a:latin typeface="Arial"/>
              </a:defRPr>
            </a:pPr>
            <a:r>
              <a:t>Распределённая платформа инвентаризации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A8696"/>
                </a:solidFill>
                <a:latin typeface="Arial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D5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-457200"/>
            <a:ext cx="2560320" cy="2560320"/>
          </a:xfrm>
          <a:prstGeom prst="ellipse">
            <a:avLst/>
          </a:prstGeom>
          <a:noFill/>
          <a:ln w="15875"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49840" y="-274320"/>
            <a:ext cx="2468880" cy="2468880"/>
          </a:xfrm>
          <a:prstGeom prst="ellipse">
            <a:avLst/>
          </a:prstGeom>
          <a:noFill/>
          <a:ln w="15875"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0" y="5486400"/>
            <a:ext cx="2743200" cy="2743200"/>
          </a:xfrm>
          <a:prstGeom prst="ellipse">
            <a:avLst/>
          </a:prstGeom>
          <a:noFill/>
          <a:ln w="15875"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7498079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5DB8"/>
                </a:solidFill>
                <a:latin typeface="Arial"/>
              </a:defRPr>
            </a:pPr>
            <a:r>
              <a:t>Ограничения среды и сценарии использования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F2933"/>
                </a:solidFill>
                <a:latin typeface="Arial"/>
              </a:defRPr>
            </a:pPr>
            <a:r>
              <a:t>удалённые объекты и территориально распределённые площадки;</a:t>
            </a:r>
          </a:p>
          <a:p>
            <a:pPr>
              <a:spcAft>
                <a:spcPts val="800"/>
              </a:spcAft>
              <a:defRPr sz="1800">
                <a:solidFill>
                  <a:srgbClr val="1F2933"/>
                </a:solidFill>
                <a:latin typeface="Arial"/>
              </a:defRPr>
            </a:pPr>
            <a:r>
              <a:t>нестабильная или отсутствующая связь с центральным контуром;</a:t>
            </a:r>
          </a:p>
          <a:p>
            <a:pPr>
              <a:spcAft>
                <a:spcPts val="800"/>
              </a:spcAft>
              <a:defRPr sz="1800">
                <a:solidFill>
                  <a:srgbClr val="1F2933"/>
                </a:solidFill>
                <a:latin typeface="Arial"/>
              </a:defRPr>
            </a:pPr>
            <a:r>
              <a:t>необходимость продолжать учёт и взаимодействие без внешнего канала;</a:t>
            </a:r>
          </a:p>
          <a:p>
            <a:pPr>
              <a:spcAft>
                <a:spcPts val="800"/>
              </a:spcAft>
              <a:defRPr sz="1800">
                <a:solidFill>
                  <a:srgbClr val="1F2933"/>
                </a:solidFill>
                <a:latin typeface="Arial"/>
              </a:defRPr>
            </a:pPr>
            <a:r>
              <a:t>последующая консолидация данных после восстановления связи;</a:t>
            </a:r>
          </a:p>
        </p:txBody>
      </p:sp>
      <p:pic>
        <p:nvPicPr>
          <p:cNvPr id="8" name="Picture 7" descr="diagram_fragmen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463040"/>
            <a:ext cx="4663440" cy="262318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49224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A8696"/>
                </a:solidFill>
                <a:latin typeface="Arial"/>
              </a:defRPr>
            </a:pPr>
            <a:r>
              <a:t>Распределённая платформа инвентаризации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A8696"/>
                </a:solidFill>
                <a:latin typeface="Arial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D5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-457200"/>
            <a:ext cx="2560320" cy="2560320"/>
          </a:xfrm>
          <a:prstGeom prst="ellipse">
            <a:avLst/>
          </a:prstGeom>
          <a:noFill/>
          <a:ln w="15875"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49840" y="-274320"/>
            <a:ext cx="2468880" cy="2468880"/>
          </a:xfrm>
          <a:prstGeom prst="ellipse">
            <a:avLst/>
          </a:prstGeom>
          <a:noFill/>
          <a:ln w="15875"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0" y="5486400"/>
            <a:ext cx="2743200" cy="2743200"/>
          </a:xfrm>
          <a:prstGeom prst="ellipse">
            <a:avLst/>
          </a:prstGeom>
          <a:noFill/>
          <a:ln w="15875"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7498079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5DB8"/>
                </a:solidFill>
                <a:latin typeface="Arial"/>
              </a:defRPr>
            </a:pPr>
            <a:r>
              <a:t>Обзор решения</a:t>
            </a:r>
          </a:p>
        </p:txBody>
      </p:sp>
      <p:pic>
        <p:nvPicPr>
          <p:cNvPr id="7" name="Picture 6" descr="diagram_single_conto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54480"/>
            <a:ext cx="6309360" cy="354901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0" y="1828800"/>
            <a:ext cx="374903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F2933"/>
                </a:solidFill>
                <a:latin typeface="Arial"/>
              </a:defRPr>
            </a:pPr>
            <a:r>
              <a:t>edge-узел сочетает inventory-контур, локальное хранилище и mesh-коммуникации;</a:t>
            </a:r>
          </a:p>
          <a:p>
            <a:pPr>
              <a:spcAft>
                <a:spcPts val="800"/>
              </a:spcAft>
              <a:defRPr sz="1700">
                <a:solidFill>
                  <a:srgbClr val="1F2933"/>
                </a:solidFill>
                <a:latin typeface="Arial"/>
              </a:defRPr>
            </a:pPr>
            <a:r>
              <a:t>central-контур используется как канонический источник и точка консолидации;</a:t>
            </a:r>
          </a:p>
          <a:p>
            <a:pPr>
              <a:spcAft>
                <a:spcPts val="800"/>
              </a:spcAft>
              <a:defRPr sz="1700">
                <a:solidFill>
                  <a:srgbClr val="1F2933"/>
                </a:solidFill>
                <a:latin typeface="Arial"/>
              </a:defRPr>
            </a:pPr>
            <a:r>
              <a:t>локальные операции не блокируются недоступностью центральной системы;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A8696"/>
                </a:solidFill>
                <a:latin typeface="Arial"/>
              </a:defRPr>
            </a:pPr>
            <a:r>
              <a:t>Распределённая платформа инвентаризации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A8696"/>
                </a:solidFill>
                <a:latin typeface="Arial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D5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-457200"/>
            <a:ext cx="2560320" cy="2560320"/>
          </a:xfrm>
          <a:prstGeom prst="ellipse">
            <a:avLst/>
          </a:prstGeom>
          <a:noFill/>
          <a:ln w="15875"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49840" y="-274320"/>
            <a:ext cx="2468880" cy="2468880"/>
          </a:xfrm>
          <a:prstGeom prst="ellipse">
            <a:avLst/>
          </a:prstGeom>
          <a:noFill/>
          <a:ln w="15875"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0" y="5486400"/>
            <a:ext cx="2743200" cy="2743200"/>
          </a:xfrm>
          <a:prstGeom prst="ellipse">
            <a:avLst/>
          </a:prstGeom>
          <a:noFill/>
          <a:ln w="15875"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7498079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5DB8"/>
                </a:solidFill>
                <a:latin typeface="Arial"/>
              </a:defRPr>
            </a:pPr>
            <a:r>
              <a:t>Компонентная архитектура</a:t>
            </a:r>
          </a:p>
        </p:txBody>
      </p:sp>
      <p:pic>
        <p:nvPicPr>
          <p:cNvPr id="7" name="Picture 6" descr="architecture_exis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17320"/>
            <a:ext cx="7315200" cy="411386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75320" y="1783080"/>
            <a:ext cx="30175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F2933"/>
                </a:solidFill>
                <a:latin typeface="Arial"/>
              </a:defRPr>
            </a:pPr>
            <a:r>
              <a:t>клиентские устройства: desktop и Android;</a:t>
            </a:r>
          </a:p>
          <a:p>
            <a:pPr>
              <a:spcAft>
                <a:spcPts val="800"/>
              </a:spcAft>
              <a:defRPr sz="1600">
                <a:solidFill>
                  <a:srgbClr val="1F2933"/>
                </a:solidFill>
                <a:latin typeface="Arial"/>
              </a:defRPr>
            </a:pPr>
            <a:r>
              <a:t>локальный контур: UI, inventory, локальная БД, очередь синхронизации, mesh-модуль;</a:t>
            </a:r>
          </a:p>
          <a:p>
            <a:pPr>
              <a:spcAft>
                <a:spcPts val="800"/>
              </a:spcAft>
              <a:defRPr sz="1600">
                <a:solidFill>
                  <a:srgbClr val="1F2933"/>
                </a:solidFill>
                <a:latin typeface="Arial"/>
              </a:defRPr>
            </a:pPr>
            <a:r>
              <a:t>central-контур: доступ, inventory, sync, вложения и экспорт;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A8696"/>
                </a:solidFill>
                <a:latin typeface="Arial"/>
              </a:defRPr>
            </a:pPr>
            <a:r>
              <a:t>Распределённая платформа инвентаризации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A8696"/>
                </a:solidFill>
                <a:latin typeface="Arial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D5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-457200"/>
            <a:ext cx="2560320" cy="2560320"/>
          </a:xfrm>
          <a:prstGeom prst="ellipse">
            <a:avLst/>
          </a:prstGeom>
          <a:noFill/>
          <a:ln w="15875"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49840" y="-274320"/>
            <a:ext cx="2468880" cy="2468880"/>
          </a:xfrm>
          <a:prstGeom prst="ellipse">
            <a:avLst/>
          </a:prstGeom>
          <a:noFill/>
          <a:ln w="15875"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0" y="5486400"/>
            <a:ext cx="2743200" cy="2743200"/>
          </a:xfrm>
          <a:prstGeom prst="ellipse">
            <a:avLst/>
          </a:prstGeom>
          <a:noFill/>
          <a:ln w="15875"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7498079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5DB8"/>
                </a:solidFill>
                <a:latin typeface="Arial"/>
              </a:defRPr>
            </a:pPr>
            <a:r>
              <a:t>Edge-контур узла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737360"/>
            <a:ext cx="2743200" cy="1005840"/>
          </a:xfrm>
          <a:prstGeom prst="roundRect">
            <a:avLst/>
          </a:prstGeom>
          <a:solidFill>
            <a:srgbClr val="E1EFFD"/>
          </a:solidFill>
          <a:ln w="12700">
            <a:solidFill>
              <a:srgbClr val="CE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D5DB8"/>
                </a:solidFill>
                <a:latin typeface="Arial"/>
              </a:defRPr>
            </a:pPr>
            <a:r>
              <a:t>UI и workflow</a:t>
            </a:r>
          </a:p>
          <a:p>
            <a:pPr>
              <a:spcBef>
                <a:spcPts val="600"/>
              </a:spcBef>
              <a:defRPr sz="1200">
                <a:solidFill>
                  <a:srgbClr val="1F2933"/>
                </a:solidFill>
                <a:latin typeface="Arial"/>
              </a:defRPr>
            </a:pPr>
            <a:r>
              <a:t>Карточки имущества, сессии, scanner, отчёты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971800"/>
            <a:ext cx="2743200" cy="1005840"/>
          </a:xfrm>
          <a:prstGeom prst="roundRect">
            <a:avLst/>
          </a:prstGeom>
          <a:solidFill>
            <a:srgbClr val="E1EFFD"/>
          </a:solidFill>
          <a:ln w="12700">
            <a:solidFill>
              <a:srgbClr val="CE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D5DB8"/>
                </a:solidFill>
                <a:latin typeface="Arial"/>
              </a:defRPr>
            </a:pPr>
            <a:r>
              <a:t>Локальное хранение</a:t>
            </a:r>
          </a:p>
          <a:p>
            <a:pPr>
              <a:spcBef>
                <a:spcPts val="600"/>
              </a:spcBef>
              <a:defRPr sz="1200">
                <a:solidFill>
                  <a:srgbClr val="1F2933"/>
                </a:solidFill>
                <a:latin typeface="Arial"/>
              </a:defRPr>
            </a:pPr>
            <a:r>
              <a:t>Состояние узла, данные предметного контура, очередь изменений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206240"/>
            <a:ext cx="2743200" cy="1005840"/>
          </a:xfrm>
          <a:prstGeom prst="roundRect">
            <a:avLst/>
          </a:prstGeom>
          <a:solidFill>
            <a:srgbClr val="E1EFFD"/>
          </a:solidFill>
          <a:ln w="12700">
            <a:solidFill>
              <a:srgbClr val="CE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D5DB8"/>
                </a:solidFill>
                <a:latin typeface="Arial"/>
              </a:defRPr>
            </a:pPr>
            <a:r>
              <a:t>Коммуникации</a:t>
            </a:r>
          </a:p>
          <a:p>
            <a:pPr>
              <a:spcBef>
                <a:spcPts val="600"/>
              </a:spcBef>
              <a:defRPr sz="1200">
                <a:solidFill>
                  <a:srgbClr val="1F2933"/>
                </a:solidFill>
                <a:latin typeface="Arial"/>
              </a:defRPr>
            </a:pPr>
            <a:r>
              <a:t>Discovery, чаты, файлы, звонки, topology и diagnostics</a:t>
            </a:r>
          </a:p>
        </p:txBody>
      </p:sp>
      <p:pic>
        <p:nvPicPr>
          <p:cNvPr id="10" name="Picture 9" descr="proto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1554480"/>
            <a:ext cx="7132320" cy="401101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649224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A8696"/>
                </a:solidFill>
                <a:latin typeface="Arial"/>
              </a:defRPr>
            </a:pPr>
            <a:r>
              <a:t>Распределённая платформа инвентаризации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A8696"/>
                </a:solidFill>
                <a:latin typeface="Arial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D5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-457200"/>
            <a:ext cx="2560320" cy="2560320"/>
          </a:xfrm>
          <a:prstGeom prst="ellipse">
            <a:avLst/>
          </a:prstGeom>
          <a:noFill/>
          <a:ln w="15875"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49840" y="-274320"/>
            <a:ext cx="2468880" cy="2468880"/>
          </a:xfrm>
          <a:prstGeom prst="ellipse">
            <a:avLst/>
          </a:prstGeom>
          <a:noFill/>
          <a:ln w="15875"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0" y="5486400"/>
            <a:ext cx="2743200" cy="2743200"/>
          </a:xfrm>
          <a:prstGeom prst="ellipse">
            <a:avLst/>
          </a:prstGeom>
          <a:noFill/>
          <a:ln w="15875"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7498079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5DB8"/>
                </a:solidFill>
                <a:latin typeface="Arial"/>
              </a:defRPr>
            </a:pPr>
            <a:r>
              <a:t>Online/offline режимы</a:t>
            </a:r>
          </a:p>
        </p:txBody>
      </p:sp>
      <p:pic>
        <p:nvPicPr>
          <p:cNvPr id="7" name="Picture 6" descr="diagram_online_off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6766560" cy="380619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82880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F2933"/>
                </a:solidFill>
                <a:latin typeface="Arial"/>
              </a:defRPr>
            </a:pPr>
            <a:r>
              <a:t>online: local-first работа + central sync;</a:t>
            </a:r>
          </a:p>
          <a:p>
            <a:pPr>
              <a:spcAft>
                <a:spcPts val="800"/>
              </a:spcAft>
              <a:defRPr sz="1700">
                <a:solidFill>
                  <a:srgbClr val="1F2933"/>
                </a:solidFill>
                <a:latin typeface="Arial"/>
              </a:defRPr>
            </a:pPr>
            <a:r>
              <a:t>offline: локальная автономность и взаимодействие между соседними узлами;</a:t>
            </a:r>
          </a:p>
          <a:p>
            <a:pPr>
              <a:spcAft>
                <a:spcPts val="800"/>
              </a:spcAft>
              <a:defRPr sz="1700">
                <a:solidFill>
                  <a:srgbClr val="1F2933"/>
                </a:solidFill>
                <a:latin typeface="Arial"/>
              </a:defRPr>
            </a:pPr>
            <a:r>
              <a:t>в обоих режимах доступны предметные сценарии, обсуждения и файлы;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A8696"/>
                </a:solidFill>
                <a:latin typeface="Arial"/>
              </a:defRPr>
            </a:pPr>
            <a:r>
              <a:t>Распределённая платформа инвентаризации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A8696"/>
                </a:solidFill>
                <a:latin typeface="Arial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D5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-457200"/>
            <a:ext cx="2560320" cy="2560320"/>
          </a:xfrm>
          <a:prstGeom prst="ellipse">
            <a:avLst/>
          </a:prstGeom>
          <a:noFill/>
          <a:ln w="15875"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49840" y="-274320"/>
            <a:ext cx="2468880" cy="2468880"/>
          </a:xfrm>
          <a:prstGeom prst="ellipse">
            <a:avLst/>
          </a:prstGeom>
          <a:noFill/>
          <a:ln w="15875"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0" y="5486400"/>
            <a:ext cx="2743200" cy="2743200"/>
          </a:xfrm>
          <a:prstGeom prst="ellipse">
            <a:avLst/>
          </a:prstGeom>
          <a:noFill/>
          <a:ln w="15875"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7498079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5DB8"/>
                </a:solidFill>
                <a:latin typeface="Arial"/>
              </a:defRPr>
            </a:pPr>
            <a:r>
              <a:t>Верхнеуровневая ER-модель инвентаризации</a:t>
            </a:r>
          </a:p>
        </p:txBody>
      </p:sp>
      <p:pic>
        <p:nvPicPr>
          <p:cNvPr id="7" name="Picture 6" descr="inventory_er_exis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417320"/>
            <a:ext cx="7498079" cy="421671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12480" y="1828800"/>
            <a:ext cx="2834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F2933"/>
                </a:solidFill>
                <a:latin typeface="Arial"/>
              </a:defRPr>
            </a:pPr>
            <a:r>
              <a:t>ключевые сущности: организация, объект, сессия, review, incident, attachment, code;</a:t>
            </a:r>
          </a:p>
          <a:p>
            <a:pPr>
              <a:spcAft>
                <a:spcPts val="800"/>
              </a:spcAft>
              <a:defRPr sz="1600">
                <a:solidFill>
                  <a:srgbClr val="1F2933"/>
                </a:solidFill>
                <a:latin typeface="Arial"/>
              </a:defRPr>
            </a:pPr>
            <a:r>
              <a:t>отдельно поддержаны маркировка, печать и история событий;</a:t>
            </a:r>
          </a:p>
          <a:p>
            <a:pPr>
              <a:spcAft>
                <a:spcPts val="800"/>
              </a:spcAft>
              <a:defRPr sz="1600">
                <a:solidFill>
                  <a:srgbClr val="1F2933"/>
                </a:solidFill>
                <a:latin typeface="Arial"/>
              </a:defRPr>
            </a:pPr>
            <a:r>
              <a:t>модель рассчитана на инвентаризационные сессии и рабочие роли участников;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A8696"/>
                </a:solidFill>
                <a:latin typeface="Arial"/>
              </a:defRPr>
            </a:pPr>
            <a:r>
              <a:t>Распределённая платформа инвентаризации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A8696"/>
                </a:solidFill>
                <a:latin typeface="Arial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D5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-457200"/>
            <a:ext cx="2560320" cy="2560320"/>
          </a:xfrm>
          <a:prstGeom prst="ellipse">
            <a:avLst/>
          </a:prstGeom>
          <a:noFill/>
          <a:ln w="15875"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49840" y="-274320"/>
            <a:ext cx="2468880" cy="2468880"/>
          </a:xfrm>
          <a:prstGeom prst="ellipse">
            <a:avLst/>
          </a:prstGeom>
          <a:noFill/>
          <a:ln w="15875"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0" y="5486400"/>
            <a:ext cx="2743200" cy="2743200"/>
          </a:xfrm>
          <a:prstGeom prst="ellipse">
            <a:avLst/>
          </a:prstGeom>
          <a:noFill/>
          <a:ln w="15875"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7498079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5DB8"/>
                </a:solidFill>
                <a:latin typeface="Arial"/>
              </a:defRPr>
            </a:pPr>
            <a:r>
              <a:t>ER-модель коммуникаций и синхронизации</a:t>
            </a:r>
          </a:p>
        </p:txBody>
      </p:sp>
      <p:pic>
        <p:nvPicPr>
          <p:cNvPr id="7" name="Picture 6" descr="comm_er_exis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417320"/>
            <a:ext cx="7498079" cy="421671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12480" y="1828800"/>
            <a:ext cx="2834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F2933"/>
                </a:solidFill>
                <a:latin typeface="Arial"/>
              </a:defRPr>
            </a:pPr>
            <a:r>
              <a:t>conversation, message и thread образуют discussion-контур;</a:t>
            </a:r>
          </a:p>
          <a:p>
            <a:pPr>
              <a:spcAft>
                <a:spcPts val="800"/>
              </a:spcAft>
              <a:defRPr sz="1600">
                <a:solidFill>
                  <a:srgbClr val="1F2933"/>
                </a:solidFill>
                <a:latin typeface="Arial"/>
              </a:defRPr>
            </a:pPr>
            <a:r>
              <a:t>file transfer и call session интегрированы в тот же рабочий контур;</a:t>
            </a:r>
          </a:p>
          <a:p>
            <a:pPr>
              <a:spcAft>
                <a:spcPts val="800"/>
              </a:spcAft>
              <a:defRPr sz="1600">
                <a:solidFill>
                  <a:srgbClr val="1F2933"/>
                </a:solidFill>
                <a:latin typeface="Arial"/>
              </a:defRPr>
            </a:pPr>
            <a:r>
              <a:t>peer device, sync state и sync change фиксируют состояние обмена между узлами;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A8696"/>
                </a:solidFill>
                <a:latin typeface="Arial"/>
              </a:defRPr>
            </a:pPr>
            <a:r>
              <a:t>Распределённая платформа инвентаризации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A8696"/>
                </a:solidFill>
                <a:latin typeface="Arial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D5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-457200"/>
            <a:ext cx="2560320" cy="2560320"/>
          </a:xfrm>
          <a:prstGeom prst="ellipse">
            <a:avLst/>
          </a:prstGeom>
          <a:noFill/>
          <a:ln w="15875"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49840" y="-274320"/>
            <a:ext cx="2468880" cy="2468880"/>
          </a:xfrm>
          <a:prstGeom prst="ellipse">
            <a:avLst/>
          </a:prstGeom>
          <a:noFill/>
          <a:ln w="15875"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0" y="5486400"/>
            <a:ext cx="2743200" cy="2743200"/>
          </a:xfrm>
          <a:prstGeom prst="ellipse">
            <a:avLst/>
          </a:prstGeom>
          <a:noFill/>
          <a:ln w="15875"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7498079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5DB8"/>
                </a:solidFill>
                <a:latin typeface="Arial"/>
              </a:defRPr>
            </a:pPr>
            <a:r>
              <a:t>Discovery, pairing и доверие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5394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F2933"/>
                </a:solidFill>
                <a:latin typeface="Arial"/>
              </a:defRPr>
            </a:pPr>
            <a:r>
              <a:t>локальное обнаружение соседних узлов;</a:t>
            </a:r>
          </a:p>
          <a:p>
            <a:pPr>
              <a:spcAft>
                <a:spcPts val="800"/>
              </a:spcAft>
              <a:defRPr sz="1800">
                <a:solidFill>
                  <a:srgbClr val="1F2933"/>
                </a:solidFill>
                <a:latin typeface="Arial"/>
              </a:defRPr>
            </a:pPr>
            <a:r>
              <a:t>invite с ограничением по времени и nonce;</a:t>
            </a:r>
          </a:p>
          <a:p>
            <a:pPr>
              <a:spcAft>
                <a:spcPts val="800"/>
              </a:spcAft>
              <a:defRPr sz="1800">
                <a:solidFill>
                  <a:srgbClr val="1F2933"/>
                </a:solidFill>
                <a:latin typeface="Arial"/>
              </a:defRPr>
            </a:pPr>
            <a:r>
              <a:t>peerId как криптографическая идентичность узла;</a:t>
            </a:r>
          </a:p>
          <a:p>
            <a:pPr>
              <a:spcAft>
                <a:spcPts val="800"/>
              </a:spcAft>
              <a:defRPr sz="1800">
                <a:solidFill>
                  <a:srgbClr val="1F2933"/>
                </a:solidFill>
                <a:latin typeface="Arial"/>
              </a:defRPr>
            </a:pPr>
            <a:r>
              <a:t>trusted state после успешного pairing;</a:t>
            </a:r>
          </a:p>
        </p:txBody>
      </p:sp>
      <p:pic>
        <p:nvPicPr>
          <p:cNvPr id="8" name="Picture 7" descr="mobile_pairing_sc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645920"/>
            <a:ext cx="2011680" cy="4489887"/>
          </a:xfrm>
          <a:prstGeom prst="rect">
            <a:avLst/>
          </a:prstGeom>
        </p:spPr>
      </p:pic>
      <p:pic>
        <p:nvPicPr>
          <p:cNvPr id="9" name="Picture 8" descr="desktop_profil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960" y="1645920"/>
            <a:ext cx="2240280" cy="14500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649224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A8696"/>
                </a:solidFill>
                <a:latin typeface="Arial"/>
              </a:defRPr>
            </a:pPr>
            <a:r>
              <a:t>Распределённая платформа инвентаризации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A8696"/>
                </a:solidFill>
                <a:latin typeface="Arial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D5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-457200"/>
            <a:ext cx="2560320" cy="2560320"/>
          </a:xfrm>
          <a:prstGeom prst="ellipse">
            <a:avLst/>
          </a:prstGeom>
          <a:noFill/>
          <a:ln w="15875"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49840" y="-274320"/>
            <a:ext cx="2468880" cy="2468880"/>
          </a:xfrm>
          <a:prstGeom prst="ellipse">
            <a:avLst/>
          </a:prstGeom>
          <a:noFill/>
          <a:ln w="15875"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0" y="5486400"/>
            <a:ext cx="2743200" cy="2743200"/>
          </a:xfrm>
          <a:prstGeom prst="ellipse">
            <a:avLst/>
          </a:prstGeom>
          <a:noFill/>
          <a:ln w="15875"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7498079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5DB8"/>
                </a:solidFill>
                <a:latin typeface="Arial"/>
              </a:defRPr>
            </a:pPr>
            <a:r>
              <a:t>Обработка входящего сетевого пакета</a:t>
            </a:r>
          </a:p>
        </p:txBody>
      </p:sp>
      <p:pic>
        <p:nvPicPr>
          <p:cNvPr id="7" name="Picture 6" descr="packet_sequence_exis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417320"/>
            <a:ext cx="6766560" cy="38053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0" y="178308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F2933"/>
                </a:solidFill>
                <a:latin typeface="Arial"/>
              </a:defRPr>
            </a:pPr>
            <a:r>
              <a:t>controller принимает транспортную оболочку пакета;</a:t>
            </a:r>
          </a:p>
          <a:p>
            <a:pPr>
              <a:spcAft>
                <a:spcPts val="800"/>
              </a:spcAft>
              <a:defRPr sz="1600">
                <a:solidFill>
                  <a:srgbClr val="1F2933"/>
                </a:solidFill>
                <a:latin typeface="Arial"/>
              </a:defRPr>
            </a:pPr>
            <a:r>
              <a:t>lifecycle выполняет dedup, trust и signature validation;</a:t>
            </a:r>
          </a:p>
          <a:p>
            <a:pPr>
              <a:spcAft>
                <a:spcPts val="800"/>
              </a:spcAft>
              <a:defRPr sz="1600">
                <a:solidFill>
                  <a:srgbClr val="1F2933"/>
                </a:solidFill>
                <a:latin typeface="Arial"/>
              </a:defRPr>
            </a:pPr>
            <a:r>
              <a:t>payload передаётся в соответствующий use-case сервис;</a:t>
            </a:r>
          </a:p>
          <a:p>
            <a:pPr>
              <a:spcAft>
                <a:spcPts val="800"/>
              </a:spcAft>
              <a:defRPr sz="1600">
                <a:solidFill>
                  <a:srgbClr val="1F2933"/>
                </a:solidFill>
                <a:latin typeface="Arial"/>
              </a:defRPr>
            </a:pPr>
            <a:r>
              <a:t>по результату формируется ответ доставки;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A8696"/>
                </a:solidFill>
                <a:latin typeface="Arial"/>
              </a:defRPr>
            </a:pPr>
            <a:r>
              <a:t>Распределённая платформа инвентаризации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A8696"/>
                </a:solidFill>
                <a:latin typeface="Arial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D5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-457200"/>
            <a:ext cx="2560320" cy="2560320"/>
          </a:xfrm>
          <a:prstGeom prst="ellipse">
            <a:avLst/>
          </a:prstGeom>
          <a:noFill/>
          <a:ln w="15875"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49840" y="-274320"/>
            <a:ext cx="2468880" cy="2468880"/>
          </a:xfrm>
          <a:prstGeom prst="ellipse">
            <a:avLst/>
          </a:prstGeom>
          <a:noFill/>
          <a:ln w="15875"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0" y="5486400"/>
            <a:ext cx="2743200" cy="2743200"/>
          </a:xfrm>
          <a:prstGeom prst="ellipse">
            <a:avLst/>
          </a:prstGeom>
          <a:noFill/>
          <a:ln w="15875"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7498079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5DB8"/>
                </a:solidFill>
                <a:latin typeface="Arial"/>
              </a:defRPr>
            </a:pPr>
            <a:r>
              <a:t>Передача файлов</a:t>
            </a:r>
          </a:p>
        </p:txBody>
      </p:sp>
      <p:pic>
        <p:nvPicPr>
          <p:cNvPr id="7" name="Picture 6" descr="file_flow_exis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417320"/>
            <a:ext cx="6766560" cy="38053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82880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F2933"/>
                </a:solidFill>
                <a:latin typeface="Arial"/>
              </a:defRPr>
            </a:pPr>
            <a:r>
              <a:t>offer/accept для начала сессии передачи;</a:t>
            </a:r>
          </a:p>
          <a:p>
            <a:pPr>
              <a:spcAft>
                <a:spcPts val="800"/>
              </a:spcAft>
              <a:defRPr sz="1600">
                <a:solidFill>
                  <a:srgbClr val="1F2933"/>
                </a:solidFill>
                <a:latin typeface="Arial"/>
              </a:defRPr>
            </a:pPr>
            <a:r>
              <a:t>чанки фиксированного размера с подтверждением FILE_ACK;</a:t>
            </a:r>
          </a:p>
          <a:p>
            <a:pPr>
              <a:spcAft>
                <a:spcPts val="800"/>
              </a:spcAft>
              <a:defRPr sz="1600">
                <a:solidFill>
                  <a:srgbClr val="1F2933"/>
                </a:solidFill>
                <a:latin typeface="Arial"/>
              </a:defRPr>
            </a:pPr>
            <a:r>
              <a:t>завершение по FILE_COMPLETE и дозагрузка по FILE_RESUME_REQUEST;</a:t>
            </a:r>
          </a:p>
        </p:txBody>
      </p:sp>
      <p:pic>
        <p:nvPicPr>
          <p:cNvPr id="9" name="Picture 8" descr="mobile_transf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4389120"/>
            <a:ext cx="1691640" cy="3759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649224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A8696"/>
                </a:solidFill>
                <a:latin typeface="Arial"/>
              </a:defRPr>
            </a:pPr>
            <a:r>
              <a:t>Распределённая платформа инвентаризации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A8696"/>
                </a:solidFill>
                <a:latin typeface="Arial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D5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-457200"/>
            <a:ext cx="2560320" cy="2560320"/>
          </a:xfrm>
          <a:prstGeom prst="ellipse">
            <a:avLst/>
          </a:prstGeom>
          <a:noFill/>
          <a:ln w="15875"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49840" y="-274320"/>
            <a:ext cx="2468880" cy="2468880"/>
          </a:xfrm>
          <a:prstGeom prst="ellipse">
            <a:avLst/>
          </a:prstGeom>
          <a:noFill/>
          <a:ln w="15875"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0" y="5486400"/>
            <a:ext cx="2743200" cy="2743200"/>
          </a:xfrm>
          <a:prstGeom prst="ellipse">
            <a:avLst/>
          </a:prstGeom>
          <a:noFill/>
          <a:ln w="15875"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7498079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5DB8"/>
                </a:solidFill>
                <a:latin typeface="Arial"/>
              </a:defRPr>
            </a:pPr>
            <a:r>
              <a:t>Звонки и media-контур</a:t>
            </a:r>
          </a:p>
        </p:txBody>
      </p:sp>
      <p:pic>
        <p:nvPicPr>
          <p:cNvPr id="7" name="Picture 6" descr="call_flow_exis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766560" cy="38053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80960" y="1783080"/>
            <a:ext cx="3566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F2933"/>
                </a:solidFill>
                <a:latin typeface="Arial"/>
              </a:defRPr>
            </a:pPr>
            <a:r>
              <a:t>signaling идёт внутри рабочего контура через CALL_INVITE и CALL_SIGNAL;</a:t>
            </a:r>
          </a:p>
          <a:p>
            <a:pPr>
              <a:spcAft>
                <a:spcPts val="800"/>
              </a:spcAft>
              <a:defRPr sz="1600">
                <a:solidFill>
                  <a:srgbClr val="1F2933"/>
                </a:solidFill>
                <a:latin typeface="Arial"/>
              </a:defRPr>
            </a:pPr>
            <a:r>
              <a:t>SDP/ICE используются для согласования WebRTC-сессии;</a:t>
            </a:r>
          </a:p>
          <a:p>
            <a:pPr>
              <a:spcAft>
                <a:spcPts val="800"/>
              </a:spcAft>
              <a:defRPr sz="1600">
                <a:solidFill>
                  <a:srgbClr val="1F2933"/>
                </a:solidFill>
                <a:latin typeface="Arial"/>
              </a:defRPr>
            </a:pPr>
            <a:r>
              <a:t>в материалах проекта подтверждены Android- и desktop-клиенты с media backend;</a:t>
            </a:r>
          </a:p>
        </p:txBody>
      </p:sp>
      <p:pic>
        <p:nvPicPr>
          <p:cNvPr id="9" name="Picture 8" descr="mobile_ca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4434840"/>
            <a:ext cx="1645920" cy="36735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649224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A8696"/>
                </a:solidFill>
                <a:latin typeface="Arial"/>
              </a:defRPr>
            </a:pPr>
            <a:r>
              <a:t>Распределённая платформа инвентаризации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A8696"/>
                </a:solidFill>
                <a:latin typeface="Arial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D5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-457200"/>
            <a:ext cx="2560320" cy="2560320"/>
          </a:xfrm>
          <a:prstGeom prst="ellipse">
            <a:avLst/>
          </a:prstGeom>
          <a:noFill/>
          <a:ln w="15875"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49840" y="-274320"/>
            <a:ext cx="2468880" cy="2468880"/>
          </a:xfrm>
          <a:prstGeom prst="ellipse">
            <a:avLst/>
          </a:prstGeom>
          <a:noFill/>
          <a:ln w="15875"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0" y="5486400"/>
            <a:ext cx="2743200" cy="2743200"/>
          </a:xfrm>
          <a:prstGeom prst="ellipse">
            <a:avLst/>
          </a:prstGeom>
          <a:noFill/>
          <a:ln w="15875"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7498079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5DB8"/>
                </a:solidFill>
                <a:latin typeface="Arial"/>
              </a:defRPr>
            </a:pPr>
            <a:r>
              <a:t>Инвентаризационный сценарий на удалённом объекте</a:t>
            </a:r>
          </a:p>
        </p:txBody>
      </p:sp>
      <p:pic>
        <p:nvPicPr>
          <p:cNvPr id="7" name="Picture 6" descr="diagram_commission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00200"/>
            <a:ext cx="6583680" cy="3703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43800" y="1828800"/>
            <a:ext cx="3749039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F2933"/>
                </a:solidFill>
                <a:latin typeface="Arial"/>
              </a:defRPr>
            </a:pPr>
            <a:r>
              <a:t>сканирование объекта открывает карточку и действия по проверке;</a:t>
            </a:r>
          </a:p>
          <a:p>
            <a:pPr>
              <a:spcAft>
                <a:spcPts val="800"/>
              </a:spcAft>
              <a:defRPr sz="1600">
                <a:solidFill>
                  <a:srgbClr val="1F2933"/>
                </a:solidFill>
                <a:latin typeface="Arial"/>
              </a:defRPr>
            </a:pPr>
            <a:r>
              <a:t>замечания, фото и комментарии можно привязать к объекту сразу на месте;</a:t>
            </a:r>
          </a:p>
          <a:p>
            <a:pPr>
              <a:spcAft>
                <a:spcPts val="800"/>
              </a:spcAft>
              <a:defRPr sz="1600">
                <a:solidFill>
                  <a:srgbClr val="1F2933"/>
                </a:solidFill>
                <a:latin typeface="Arial"/>
              </a:defRPr>
            </a:pPr>
            <a:r>
              <a:t>обсуждение спорных случаев ведётся в связанном коммуникационном контуре;</a:t>
            </a:r>
          </a:p>
        </p:txBody>
      </p:sp>
      <p:pic>
        <p:nvPicPr>
          <p:cNvPr id="9" name="Picture 8" descr="proto_inventory_filt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4434840"/>
            <a:ext cx="2468880" cy="138843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649224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A8696"/>
                </a:solidFill>
                <a:latin typeface="Arial"/>
              </a:defRPr>
            </a:pPr>
            <a:r>
              <a:t>Распределённая платформа инвентаризации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A8696"/>
                </a:solidFill>
                <a:latin typeface="Arial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D5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-457200"/>
            <a:ext cx="2560320" cy="2560320"/>
          </a:xfrm>
          <a:prstGeom prst="ellipse">
            <a:avLst/>
          </a:prstGeom>
          <a:noFill/>
          <a:ln w="15875"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49840" y="-274320"/>
            <a:ext cx="2468880" cy="2468880"/>
          </a:xfrm>
          <a:prstGeom prst="ellipse">
            <a:avLst/>
          </a:prstGeom>
          <a:noFill/>
          <a:ln w="15875"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0" y="5486400"/>
            <a:ext cx="2743200" cy="2743200"/>
          </a:xfrm>
          <a:prstGeom prst="ellipse">
            <a:avLst/>
          </a:prstGeom>
          <a:noFill/>
          <a:ln w="15875"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7498079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5DB8"/>
                </a:solidFill>
                <a:latin typeface="Arial"/>
              </a:defRPr>
            </a:pPr>
            <a:r>
              <a:t>Синхронизация изменений</a:t>
            </a:r>
          </a:p>
        </p:txBody>
      </p:sp>
      <p:pic>
        <p:nvPicPr>
          <p:cNvPr id="7" name="Picture 6" descr="diagram_sync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08760"/>
            <a:ext cx="6812280" cy="38319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828800"/>
            <a:ext cx="3566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F2933"/>
                </a:solidFill>
                <a:latin typeface="Arial"/>
              </a:defRPr>
            </a:pPr>
            <a:r>
              <a:t>локальные изменения сначала фиксируются у пользователя и узла;</a:t>
            </a:r>
          </a:p>
          <a:p>
            <a:pPr>
              <a:spcAft>
                <a:spcPts val="800"/>
              </a:spcAft>
              <a:defRPr sz="1600">
                <a:solidFill>
                  <a:srgbClr val="1F2933"/>
                </a:solidFill>
                <a:latin typeface="Arial"/>
              </a:defRPr>
            </a:pPr>
            <a:r>
              <a:t>pending queue отделяет локальную работу от central upload/pull;</a:t>
            </a:r>
          </a:p>
          <a:p>
            <a:pPr>
              <a:spcAft>
                <a:spcPts val="800"/>
              </a:spcAft>
              <a:defRPr sz="1600">
                <a:solidFill>
                  <a:srgbClr val="1F2933"/>
                </a:solidFill>
                <a:latin typeface="Arial"/>
              </a:defRPr>
            </a:pPr>
            <a:r>
              <a:t>конфликты не теряются и остаются видимыми для последующего разбора;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A8696"/>
                </a:solidFill>
                <a:latin typeface="Arial"/>
              </a:defRPr>
            </a:pPr>
            <a:r>
              <a:t>Распределённая платформа инвентаризации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A8696"/>
                </a:solidFill>
                <a:latin typeface="Arial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D5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-457200"/>
            <a:ext cx="2560320" cy="2560320"/>
          </a:xfrm>
          <a:prstGeom prst="ellipse">
            <a:avLst/>
          </a:prstGeom>
          <a:noFill/>
          <a:ln w="15875"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49840" y="-274320"/>
            <a:ext cx="2468880" cy="2468880"/>
          </a:xfrm>
          <a:prstGeom prst="ellipse">
            <a:avLst/>
          </a:prstGeom>
          <a:noFill/>
          <a:ln w="15875"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0" y="5486400"/>
            <a:ext cx="2743200" cy="2743200"/>
          </a:xfrm>
          <a:prstGeom prst="ellipse">
            <a:avLst/>
          </a:prstGeom>
          <a:noFill/>
          <a:ln w="15875"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7498079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5DB8"/>
                </a:solidFill>
                <a:latin typeface="Arial"/>
              </a:defRPr>
            </a:pPr>
            <a:r>
              <a:t>Безопасность и устойчивость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37360"/>
            <a:ext cx="2560320" cy="1051560"/>
          </a:xfrm>
          <a:prstGeom prst="roundRect">
            <a:avLst/>
          </a:prstGeom>
          <a:solidFill>
            <a:srgbClr val="E1EFFD"/>
          </a:solidFill>
          <a:ln w="12700">
            <a:solidFill>
              <a:srgbClr val="CE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D5DB8"/>
                </a:solidFill>
                <a:latin typeface="Arial"/>
              </a:defRPr>
            </a:pPr>
            <a:r>
              <a:t>Безопасность</a:t>
            </a:r>
          </a:p>
          <a:p>
            <a:pPr>
              <a:spcBef>
                <a:spcPts val="600"/>
              </a:spcBef>
              <a:defRPr sz="1200">
                <a:solidFill>
                  <a:srgbClr val="1F2933"/>
                </a:solidFill>
                <a:latin typeface="Arial"/>
              </a:defRPr>
            </a:pPr>
            <a:r>
              <a:t>AES-GCM для payload, RSA-OAEP для ключа, подпись метаданных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1737360"/>
            <a:ext cx="2560320" cy="1051560"/>
          </a:xfrm>
          <a:prstGeom prst="roundRect">
            <a:avLst/>
          </a:prstGeom>
          <a:solidFill>
            <a:srgbClr val="E1EFFD"/>
          </a:solidFill>
          <a:ln w="12700">
            <a:solidFill>
              <a:srgbClr val="CE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D5DB8"/>
                </a:solidFill>
                <a:latin typeface="Arial"/>
              </a:defRPr>
            </a:pPr>
            <a:r>
              <a:t>Доверие</a:t>
            </a:r>
          </a:p>
          <a:p>
            <a:pPr>
              <a:spcBef>
                <a:spcPts val="600"/>
              </a:spcBef>
              <a:defRPr sz="1200">
                <a:solidFill>
                  <a:srgbClr val="1F2933"/>
                </a:solidFill>
                <a:latin typeface="Arial"/>
              </a:defRPr>
            </a:pPr>
            <a:r>
              <a:t>Pairing, trusted state, block list, peer identity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737360"/>
            <a:ext cx="2560320" cy="1051560"/>
          </a:xfrm>
          <a:prstGeom prst="roundRect">
            <a:avLst/>
          </a:prstGeom>
          <a:solidFill>
            <a:srgbClr val="E1EFFD"/>
          </a:solidFill>
          <a:ln w="12700">
            <a:solidFill>
              <a:srgbClr val="CE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D5DB8"/>
                </a:solidFill>
                <a:latin typeface="Arial"/>
              </a:defRPr>
            </a:pPr>
            <a:r>
              <a:t>Доставка</a:t>
            </a:r>
          </a:p>
          <a:p>
            <a:pPr>
              <a:spcBef>
                <a:spcPts val="600"/>
              </a:spcBef>
              <a:defRPr sz="1200">
                <a:solidFill>
                  <a:srgbClr val="1F2933"/>
                </a:solidFill>
                <a:latin typeface="Arial"/>
              </a:defRPr>
            </a:pPr>
            <a:r>
              <a:t>Dedup, ACK, retry, route health, relay/failover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0" y="1737360"/>
            <a:ext cx="2011680" cy="1051560"/>
          </a:xfrm>
          <a:prstGeom prst="roundRect">
            <a:avLst/>
          </a:prstGeom>
          <a:solidFill>
            <a:srgbClr val="E1EFFD"/>
          </a:solidFill>
          <a:ln w="12700">
            <a:solidFill>
              <a:srgbClr val="CE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D5DB8"/>
                </a:solidFill>
                <a:latin typeface="Arial"/>
              </a:defRPr>
            </a:pPr>
            <a:r>
              <a:t>Диагностика</a:t>
            </a:r>
          </a:p>
          <a:p>
            <a:pPr>
              <a:spcBef>
                <a:spcPts val="600"/>
              </a:spcBef>
              <a:defRPr sz="1200">
                <a:solidFill>
                  <a:srgbClr val="1F2933"/>
                </a:solidFill>
                <a:latin typeface="Arial"/>
              </a:defRPr>
            </a:pPr>
            <a:r>
              <a:t>Event log, metrics, topology snapshot</a:t>
            </a:r>
          </a:p>
        </p:txBody>
      </p:sp>
      <p:pic>
        <p:nvPicPr>
          <p:cNvPr id="11" name="Picture 10" descr="mobile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3200400"/>
            <a:ext cx="1920240" cy="4267200"/>
          </a:xfrm>
          <a:prstGeom prst="rect">
            <a:avLst/>
          </a:prstGeom>
        </p:spPr>
      </p:pic>
      <p:pic>
        <p:nvPicPr>
          <p:cNvPr id="12" name="Picture 11" descr="mobile_cha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3200400"/>
            <a:ext cx="1920240" cy="4267200"/>
          </a:xfrm>
          <a:prstGeom prst="rect">
            <a:avLst/>
          </a:prstGeom>
        </p:spPr>
      </p:pic>
      <p:pic>
        <p:nvPicPr>
          <p:cNvPr id="13" name="Picture 12" descr="mobile_transf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3200400"/>
            <a:ext cx="1920240" cy="4267200"/>
          </a:xfrm>
          <a:prstGeom prst="rect">
            <a:avLst/>
          </a:prstGeom>
        </p:spPr>
      </p:pic>
      <p:pic>
        <p:nvPicPr>
          <p:cNvPr id="14" name="Picture 13" descr="desktop_profil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0" y="3337560"/>
            <a:ext cx="2926080" cy="189395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7200" y="649224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A8696"/>
                </a:solidFill>
                <a:latin typeface="Arial"/>
              </a:defRPr>
            </a:pPr>
            <a:r>
              <a:t>Распределённая платформа инвентаризации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A8696"/>
                </a:solidFill>
                <a:latin typeface="Arial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D5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-457200"/>
            <a:ext cx="2560320" cy="2560320"/>
          </a:xfrm>
          <a:prstGeom prst="ellipse">
            <a:avLst/>
          </a:prstGeom>
          <a:noFill/>
          <a:ln w="15875"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49840" y="-274320"/>
            <a:ext cx="2468880" cy="2468880"/>
          </a:xfrm>
          <a:prstGeom prst="ellipse">
            <a:avLst/>
          </a:prstGeom>
          <a:noFill/>
          <a:ln w="15875"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0" y="5486400"/>
            <a:ext cx="2743200" cy="2743200"/>
          </a:xfrm>
          <a:prstGeom prst="ellipse">
            <a:avLst/>
          </a:prstGeom>
          <a:noFill/>
          <a:ln w="15875"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7498079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5DB8"/>
                </a:solidFill>
                <a:latin typeface="Arial"/>
              </a:defRPr>
            </a:pPr>
            <a:r>
              <a:t>Реализованный прототип</a:t>
            </a:r>
          </a:p>
        </p:txBody>
      </p:sp>
      <p:pic>
        <p:nvPicPr>
          <p:cNvPr id="7" name="Picture 6" descr="proto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00200"/>
            <a:ext cx="5212080" cy="2931129"/>
          </a:xfrm>
          <a:prstGeom prst="rect">
            <a:avLst/>
          </a:prstGeom>
        </p:spPr>
      </p:pic>
      <p:pic>
        <p:nvPicPr>
          <p:cNvPr id="8" name="Picture 7" descr="proto_inventory_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600200"/>
            <a:ext cx="5120640" cy="2879706"/>
          </a:xfrm>
          <a:prstGeom prst="rect">
            <a:avLst/>
          </a:prstGeom>
        </p:spPr>
      </p:pic>
      <p:pic>
        <p:nvPicPr>
          <p:cNvPr id="9" name="Picture 8" descr="proto_inventory_ed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160520"/>
            <a:ext cx="5212080" cy="2931129"/>
          </a:xfrm>
          <a:prstGeom prst="rect">
            <a:avLst/>
          </a:prstGeom>
        </p:spPr>
      </p:pic>
      <p:pic>
        <p:nvPicPr>
          <p:cNvPr id="10" name="Picture 9" descr="mobile_hom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0" y="4069080"/>
            <a:ext cx="1554480" cy="3454400"/>
          </a:xfrm>
          <a:prstGeom prst="rect">
            <a:avLst/>
          </a:prstGeom>
        </p:spPr>
      </p:pic>
      <p:pic>
        <p:nvPicPr>
          <p:cNvPr id="11" name="Picture 10" descr="mobile_call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21240" y="4069080"/>
            <a:ext cx="1417320" cy="316333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649224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A8696"/>
                </a:solidFill>
                <a:latin typeface="Arial"/>
              </a:defRPr>
            </a:pPr>
            <a:r>
              <a:t>Распределённая платформа инвентаризации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A8696"/>
                </a:solidFill>
                <a:latin typeface="Arial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D5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-457200"/>
            <a:ext cx="2560320" cy="2560320"/>
          </a:xfrm>
          <a:prstGeom prst="ellipse">
            <a:avLst/>
          </a:prstGeom>
          <a:noFill/>
          <a:ln w="15875"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49840" y="-274320"/>
            <a:ext cx="2468880" cy="2468880"/>
          </a:xfrm>
          <a:prstGeom prst="ellipse">
            <a:avLst/>
          </a:prstGeom>
          <a:noFill/>
          <a:ln w="15875"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0" y="5486400"/>
            <a:ext cx="2743200" cy="2743200"/>
          </a:xfrm>
          <a:prstGeom prst="ellipse">
            <a:avLst/>
          </a:prstGeom>
          <a:noFill/>
          <a:ln w="15875">
            <a:solidFill>
              <a:srgbClr val="EB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7498079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5DB8"/>
                </a:solidFill>
                <a:latin typeface="Arial"/>
              </a:defRPr>
            </a:pPr>
            <a:r>
              <a:t>Статус реализации, тесты и ограничения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2971800" cy="1051560"/>
          </a:xfrm>
          <a:prstGeom prst="roundRect">
            <a:avLst/>
          </a:prstGeom>
          <a:solidFill>
            <a:srgbClr val="E1EFFD"/>
          </a:solidFill>
          <a:ln w="12700">
            <a:solidFill>
              <a:srgbClr val="CE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D5DB8"/>
                </a:solidFill>
                <a:latin typeface="Arial"/>
              </a:defRPr>
            </a:pPr>
            <a:r>
              <a:t>Статус</a:t>
            </a:r>
          </a:p>
          <a:p>
            <a:pPr>
              <a:spcBef>
                <a:spcPts val="600"/>
              </a:spcBef>
              <a:defRPr sz="1200">
                <a:solidFill>
                  <a:srgbClr val="1F2933"/>
                </a:solidFill>
                <a:latin typeface="Arial"/>
              </a:defRPr>
            </a:pPr>
            <a:r>
              <a:t>Функциональный прототип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063240"/>
            <a:ext cx="2971800" cy="1051560"/>
          </a:xfrm>
          <a:prstGeom prst="roundRect">
            <a:avLst/>
          </a:prstGeom>
          <a:solidFill>
            <a:srgbClr val="E1EFFD"/>
          </a:solidFill>
          <a:ln w="12700">
            <a:solidFill>
              <a:srgbClr val="CE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D5DB8"/>
                </a:solidFill>
                <a:latin typeface="Arial"/>
              </a:defRPr>
            </a:pPr>
            <a:r>
              <a:t>Подтверждено</a:t>
            </a:r>
          </a:p>
          <a:p>
            <a:pPr>
              <a:spcBef>
                <a:spcPts val="600"/>
              </a:spcBef>
              <a:defRPr sz="1200">
                <a:solidFill>
                  <a:srgbClr val="1F2933"/>
                </a:solidFill>
                <a:latin typeface="Arial"/>
              </a:defRPr>
            </a:pPr>
            <a:r>
              <a:t>MeshNode API, inventory screens, hybrid sync, tests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343400"/>
            <a:ext cx="2971800" cy="1051560"/>
          </a:xfrm>
          <a:prstGeom prst="roundRect">
            <a:avLst/>
          </a:prstGeom>
          <a:solidFill>
            <a:srgbClr val="E1EFFD"/>
          </a:solidFill>
          <a:ln w="12700">
            <a:solidFill>
              <a:srgbClr val="CE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D5DB8"/>
                </a:solidFill>
                <a:latin typeface="Arial"/>
              </a:defRPr>
            </a:pPr>
            <a:r>
              <a:t>Ограничения</a:t>
            </a:r>
          </a:p>
          <a:p>
            <a:pPr>
              <a:spcBef>
                <a:spcPts val="600"/>
              </a:spcBef>
              <a:defRPr sz="1200">
                <a:solidFill>
                  <a:srgbClr val="1F2933"/>
                </a:solidFill>
                <a:latin typeface="Arial"/>
              </a:defRPr>
            </a:pPr>
            <a:r>
              <a:t>Не заявляется внедрение и не завышается готовность до серийного продукта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828800"/>
            <a:ext cx="6400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F2933"/>
                </a:solidFill>
                <a:latin typeface="Arial"/>
              </a:defRPr>
            </a:pPr>
            <a:r>
              <a:t>24.03.2026 успешно выполнены CentralHybridServicesTest, InventoryCodeServiceTest и InventoryLabelServiceTest;</a:t>
            </a:r>
          </a:p>
          <a:p>
            <a:pPr>
              <a:spcAft>
                <a:spcPts val="800"/>
              </a:spcAft>
              <a:defRPr sz="1700">
                <a:solidFill>
                  <a:srgbClr val="1F2933"/>
                </a:solidFill>
                <a:latin typeface="Arial"/>
              </a:defRPr>
            </a:pPr>
            <a:r>
              <a:t>central-контур в текущем репозитории подтверждён со стороны клиентской интеграции и sync-логики;</a:t>
            </a:r>
          </a:p>
          <a:p>
            <a:pPr>
              <a:spcAft>
                <a:spcPts val="800"/>
              </a:spcAft>
              <a:defRPr sz="1700">
                <a:solidFill>
                  <a:srgbClr val="1F2933"/>
                </a:solidFill>
                <a:latin typeface="Arial"/>
              </a:defRPr>
            </a:pPr>
            <a:r>
              <a:t>следующий технически корректный шаг - пилотная апробация на ограниченной площадке;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A8696"/>
                </a:solidFill>
                <a:latin typeface="Arial"/>
              </a:defRPr>
            </a:pPr>
            <a:r>
              <a:t>Распределённая платформа инвентаризации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A8696"/>
                </a:solidFill>
                <a:latin typeface="Arial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